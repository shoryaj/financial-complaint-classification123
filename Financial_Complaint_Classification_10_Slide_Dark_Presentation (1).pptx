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8b5374c52444ba" /><Relationship Type="http://schemas.openxmlformats.org/officeDocument/2006/relationships/extended-properties" Target="/docProps/app.xml" Id="Rba49fbbb9a244886" /><Relationship Type="http://schemas.openxmlformats.org/officeDocument/2006/relationships/officeDocument" Target="/ppt/presentation.xml" Id="Re34969fa5caa4dba" /></Relationships>
</file>

<file path=ppt/presentation.xml><?xml version="1.0" encoding="utf-8"?>
<p:presentation xmlns:p="http://schemas.openxmlformats.org/presentationml/2006/main">
  <p:sldMasterIdLst>
    <p:sldMasterId xmlns:r="http://schemas.openxmlformats.org/officeDocument/2006/relationships" id="2147483648" r:id="R1d10bfa708c94918"/>
  </p:sldMasterIdLst>
  <p:notesMasterIdLst>
    <p:notesMasterId xmlns:r="http://schemas.openxmlformats.org/officeDocument/2006/relationships" r:id="R422bd0ddab23438e"/>
  </p:notesMasterIdLst>
  <p:sldIdLst>
    <p:sldId xmlns:r="http://schemas.openxmlformats.org/officeDocument/2006/relationships" id="256" r:id="R172ebf334b2e4676"/>
    <p:sldId xmlns:r="http://schemas.openxmlformats.org/officeDocument/2006/relationships" id="257" r:id="Re40221a1cf9c4159"/>
    <p:sldId xmlns:r="http://schemas.openxmlformats.org/officeDocument/2006/relationships" id="258" r:id="Rc4743041e6374c1c"/>
    <p:sldId xmlns:r="http://schemas.openxmlformats.org/officeDocument/2006/relationships" id="259" r:id="R2a8dd897bff145cd"/>
    <p:sldId xmlns:r="http://schemas.openxmlformats.org/officeDocument/2006/relationships" id="260" r:id="Re29315f3d6ef4290"/>
    <p:sldId xmlns:r="http://schemas.openxmlformats.org/officeDocument/2006/relationships" id="261" r:id="R195c60f1419c4639"/>
    <p:sldId xmlns:r="http://schemas.openxmlformats.org/officeDocument/2006/relationships" id="262" r:id="R5b4c4d20fbe84baf"/>
    <p:sldId xmlns:r="http://schemas.openxmlformats.org/officeDocument/2006/relationships" id="263" r:id="R51954e33deed45d6"/>
    <p:sldId xmlns:r="http://schemas.openxmlformats.org/officeDocument/2006/relationships" id="264" r:id="Rcca26a7602464cbf"/>
    <p:sldId xmlns:r="http://schemas.openxmlformats.org/officeDocument/2006/relationships" id="265" r:id="Rd2e5bd0cba5a42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beca9e9f1b4388" /><Relationship Type="http://schemas.openxmlformats.org/officeDocument/2006/relationships/slideMaster" Target="/ppt/slideMasters/slideMaster1.xml" Id="R1d10bfa708c94918" /><Relationship Type="http://schemas.openxmlformats.org/officeDocument/2006/relationships/notesMaster" Target="/ppt/notesMasters/notesMaster1.xml" Id="R422bd0ddab23438e" /><Relationship Type="http://schemas.openxmlformats.org/officeDocument/2006/relationships/presProps" Target="/ppt/presProps.xml" Id="R18d0d1f467a54c74" /><Relationship Type="http://schemas.openxmlformats.org/officeDocument/2006/relationships/tableStyles" Target="/ppt/tableStyles.xml" Id="Rbbff62ad41904a52" /><Relationship Type="http://schemas.openxmlformats.org/officeDocument/2006/relationships/slide" Target="/ppt/slides/slide1.xml" Id="R172ebf334b2e4676" /><Relationship Type="http://schemas.openxmlformats.org/officeDocument/2006/relationships/slide" Target="/ppt/slides/slide2.xml" Id="Re40221a1cf9c4159" /><Relationship Type="http://schemas.openxmlformats.org/officeDocument/2006/relationships/slide" Target="/ppt/slides/slide3.xml" Id="Rc4743041e6374c1c" /><Relationship Type="http://schemas.openxmlformats.org/officeDocument/2006/relationships/slide" Target="/ppt/slides/slide4.xml" Id="R2a8dd897bff145cd" /><Relationship Type="http://schemas.openxmlformats.org/officeDocument/2006/relationships/slide" Target="/ppt/slides/slide5.xml" Id="Re29315f3d6ef4290" /><Relationship Type="http://schemas.openxmlformats.org/officeDocument/2006/relationships/slide" Target="/ppt/slides/slide6.xml" Id="R195c60f1419c4639" /><Relationship Type="http://schemas.openxmlformats.org/officeDocument/2006/relationships/slide" Target="/ppt/slides/slide7.xml" Id="R5b4c4d20fbe84baf" /><Relationship Type="http://schemas.openxmlformats.org/officeDocument/2006/relationships/slide" Target="/ppt/slides/slide8.xml" Id="R51954e33deed45d6" /><Relationship Type="http://schemas.openxmlformats.org/officeDocument/2006/relationships/slide" Target="/ppt/slides/slide9.xml" Id="Rcca26a7602464cbf" /><Relationship Type="http://schemas.openxmlformats.org/officeDocument/2006/relationships/slide" Target="/ppt/slides/slide10.xml" Id="Rd2e5bd0cba5a42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35a226740545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f088ca26a24f7b" /><Relationship Type="http://schemas.openxmlformats.org/officeDocument/2006/relationships/notesMaster" Target="/ppt/notesMasters/notesMaster1.xml" Id="R8d7cad3e993d41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856d7b13e847cb" /><Relationship Type="http://schemas.openxmlformats.org/officeDocument/2006/relationships/notesMaster" Target="/ppt/notesMasters/notesMaster1.xml" Id="Rf304dc26010f40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1eb7f6eea14586" /><Relationship Type="http://schemas.openxmlformats.org/officeDocument/2006/relationships/notesMaster" Target="/ppt/notesMasters/notesMaster1.xml" Id="R6ddde9d2acbe45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99ba322da94056" /><Relationship Type="http://schemas.openxmlformats.org/officeDocument/2006/relationships/notesMaster" Target="/ppt/notesMasters/notesMaster1.xml" Id="R0756f0e3bcd64e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b0576449cd4440" /><Relationship Type="http://schemas.openxmlformats.org/officeDocument/2006/relationships/notesMaster" Target="/ppt/notesMasters/notesMaster1.xml" Id="Rff3c73d8186e42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90429f2d94447f" /><Relationship Type="http://schemas.openxmlformats.org/officeDocument/2006/relationships/notesMaster" Target="/ppt/notesMasters/notesMaster1.xml" Id="Rd838bd60a0fc46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e3d056837e4661" /><Relationship Type="http://schemas.openxmlformats.org/officeDocument/2006/relationships/notesMaster" Target="/ppt/notesMasters/notesMaster1.xml" Id="Rdf0bc9fd568f4f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cf5026dd1a495b" /><Relationship Type="http://schemas.openxmlformats.org/officeDocument/2006/relationships/notesMaster" Target="/ppt/notesMasters/notesMaster1.xml" Id="R06f64033df0346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c01f5bb3694f56" /><Relationship Type="http://schemas.openxmlformats.org/officeDocument/2006/relationships/notesMaster" Target="/ppt/notesMasters/notesMaster1.xml" Id="R3b38b85af66e4a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1dd1555fa448a4" /><Relationship Type="http://schemas.openxmlformats.org/officeDocument/2006/relationships/notesMaster" Target="/ppt/notesMasters/notesMaster1.xml" Id="R0d315dfa879b43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everyone. We are Shorya Jaiswal, Namir Al Balushi, Abdullah Al Hinai and Yousuf Altom. Our project automatically classifies financial complaints into product categories using natural language processing. We worked jointly across the project. We built a runnable model, evaluated it on real complaints, audited its performance and explained its predictions. We will show how the system works, what the results mean and where it still makes mistakes.</a:t>
            </a:r>
          </a:p>
          <a:p xmlns:a="http://schemas.openxmlformats.org/drawingml/2006/main">
            <a:r>
              <a:t/>
            </a:r>
          </a:p>
          <a:p xmlns:a="http://schemas.openxmlformats.org/drawingml/2006/main">
            <a:r>
              <a:t>SOURCES</a:t>
            </a:r>
          </a:p>
          <a:p xmlns:a="http://schemas.openxmlformats.org/drawingml/2006/main">
            <a:r>
              <a:t>Team report, cover and sections 1, 3 and 17. Cover artwork is an AI-generated conceptual bank illustration, used decoratively.</a:t>
            </a:r>
          </a:p>
          <a:p xmlns:a="http://schemas.openxmlformats.org/drawingml/2006/main">
            <a:r>
              <a:t>Team PRNs: Shorya Jaiswal 25030422113, Namir Al Balushi 25030422151, Abdullah Al Hinai 25030422149, Yousuf Altom 25030421050. Submission 9 October 2026. Faculty guide Nabanita Choudhury.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Financial complaints arrive as free text, while organisations need to send them to the correct product team. Manually reading every complaint takes time and can lead to inconsistent routing. Our system takes the complaint text and suggests one of nine categories, such as mortgages, credit cards or debt collection. We also show influential words so a reviewer can understand the suggestion. The purpose is to support routing, while a person makes the final decision.</a:t>
            </a:r>
          </a:p>
          <a:p xmlns:a="http://schemas.openxmlformats.org/drawingml/2006/main">
            <a:r>
              <a:t/>
            </a:r>
          </a:p>
          <a:p xmlns:a="http://schemas.openxmlformats.org/drawingml/2006/main">
            <a:r>
              <a:t>SOURCES</a:t>
            </a:r>
          </a:p>
          <a:p xmlns:a="http://schemas.openxmlformats.org/drawingml/2006/main">
            <a:r>
              <a:t>Team report, sections 2 and 3. The mortgage text is a project-written demonstration input, not a held-out complaint.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used a preserved snapshot of ten thousand real complaints from the Consumer Financial Protection Bureau. After cleaning and filtering, we retained five thousand and forty-two narratives across nine categories. The largest reduction came from removing four thousand seven hundred and twenty-four repeated narratives. We also removed conflicting labels, very short texts and categories with too few examples. This particular snapshot had no empty required fields. Removing exact duplicates before splitting helped prevent the same cleaned complaint appearing in both training and testing.</a:t>
            </a:r>
          </a:p>
          <a:p xmlns:a="http://schemas.openxmlformats.org/drawingml/2006/main">
            <a:r>
              <a:t/>
            </a:r>
          </a:p>
          <a:p xmlns:a="http://schemas.openxmlformats.org/drawingml/2006/main">
            <a:r>
              <a:t>SOURCES</a:t>
            </a:r>
          </a:p>
          <a:p xmlns:a="http://schemas.openxmlformats.org/drawingml/2006/main">
            <a:r>
              <a:t>Team report, sections 4 and 5, Tables 2 and 3. CFPB Consumer Complaint Database: https://www.consumerfinance.gov/data-research/consumer-complaints/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Computers need numerical features rather than raw sentences, so we used TF-IDF, which means term frequency and inverse document frequency. It gives weight to words that are useful for distinguishing complaints and reduces the influence of very common terms. We included single words and two-word phrases, with thirty thousand features. We then used separate training, validation and test sets. The vectoriser learned its vocabulary only from training data. This kept test information out of feature learning and model selection.</a:t>
            </a:r>
          </a:p>
          <a:p xmlns:a="http://schemas.openxmlformats.org/drawingml/2006/main">
            <a:r>
              <a:t/>
            </a:r>
          </a:p>
          <a:p xmlns:a="http://schemas.openxmlformats.org/drawingml/2006/main">
            <a:r>
              <a:t>SOURCES</a:t>
            </a:r>
          </a:p>
          <a:p xmlns:a="http://schemas.openxmlformats.org/drawingml/2006/main">
            <a:r>
              <a:t>Team report, sections 6 and 7, Tables 4 and 5. TF-IDF documentation: https://scikit-learn.org/stable/modules/generated/sklearn.feature_extraction.text.TfidfVectorizer.html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compared logistic regression, linear support vector machines and random forest, alongside a baseline that always predicts the most common category. We selected the model using validation Macro-F1 because it gives every product category equal weight. The linear SVM with C equal to one achieved the highest validation Macro-F1, at zero point six seven three seven. Its lead over the other SVM setting was small. We chose it before looking at the final test results, and used balanced class weights during training.</a:t>
            </a:r>
          </a:p>
          <a:p xmlns:a="http://schemas.openxmlformats.org/drawingml/2006/main">
            <a:r>
              <a:t/>
            </a:r>
          </a:p>
          <a:p xmlns:a="http://schemas.openxmlformats.org/drawingml/2006/main">
            <a:r>
              <a:t>SOURCES</a:t>
            </a:r>
          </a:p>
          <a:p xmlns:a="http://schemas.openxmlformats.org/drawingml/2006/main">
            <a:r>
              <a:t>Team report, section 8 and Table 9 in section 10. LinearSVC documentation: https://scikit-learn.org/stable/modules/generated/sklearn.svm.LinearSVC.html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seven hundred and fifty-seven test complaints, our selected model classified six hundred and seventy-three correctly. That gives eighty-eight point nine percent accuracy, compared with seventy-one point three-three percent for the majority baseline. We also reported Weighted-F1 and Macro-F1. Weighted-F1 gives more influence to categories with more examples, while Macro-F1 treats each category equally. The bootstrap accuracy interval describes sampling uncertainty within this test set. These results evaluate our fixed snapshot and do not guarantee the same performance on future complaints.</a:t>
            </a:r>
          </a:p>
          <a:p xmlns:a="http://schemas.openxmlformats.org/drawingml/2006/main">
            <a:r>
              <a:t/>
            </a:r>
          </a:p>
          <a:p xmlns:a="http://schemas.openxmlformats.org/drawingml/2006/main">
            <a:r>
              <a:t>SOURCES</a:t>
            </a:r>
          </a:p>
          <a:p xmlns:a="http://schemas.openxmlformats.org/drawingml/2006/main">
            <a:r>
              <a:t>Team report, section 10, Table 8. Accuracy interval uses 1,000 percentile bootstrap resamples with seed 42. Metrics documentation: 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overall score hides a large difference between products. Credit reporting accounts for five hundred and forty of the test complaints and achieves an F1 score of about zero point nine four six. However, payday, title and personal loans have only six test examples and an F1 score of zero. The model classified none of those six correctly. This explains why Weighted-F1 looks much stronger than Macro-F1. We therefore need to check each category separately and collect more unique examples for rare products.</a:t>
            </a:r>
          </a:p>
          <a:p xmlns:a="http://schemas.openxmlformats.org/drawingml/2006/main">
            <a:r>
              <a:t/>
            </a:r>
          </a:p>
          <a:p xmlns:a="http://schemas.openxmlformats.org/drawingml/2006/main">
            <a:r>
              <a:t>SOURCES</a:t>
            </a:r>
          </a:p>
          <a:p xmlns:a="http://schemas.openxmlformats.org/drawingml/2006/main">
            <a:r>
              <a:t>Team report, section 10, Table 10. Test support totals 757. The displayed F1 chart uses the report's three-decimal category scores. Payday/title/personal loans is one combined retained category.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audited accuracy by complaint length. Short complaints, with fifty words or fewer, achieved eighty-three point nine percent, while long complaints, with at least two hundred words, achieved eighty-eight point nine-seven percent. Medium complaints performed best, so adding words does not always improve classification. We also used simple wording rules to compare formal and informal complaints. Only five examples met the informal rule, making that comparison inconclusive. Length and writing style are proxies, and this audit does not establish demographic fairness or a causal effect.</a:t>
            </a:r>
          </a:p>
          <a:p xmlns:a="http://schemas.openxmlformats.org/drawingml/2006/main">
            <a:r>
              <a:t/>
            </a:r>
          </a:p>
          <a:p xmlns:a="http://schemas.openxmlformats.org/drawingml/2006/main">
            <a:r>
              <a:t>SOURCES</a:t>
            </a:r>
          </a:p>
          <a:p xmlns:a="http://schemas.openxmlformats.org/drawingml/2006/main">
            <a:r>
              <a:t>Team report, section 10, Tables 11 and 12. Raw alphabetic word counts define length groups. Style labels are heuristic and have no independent human validation. Category mix differs between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demonstration, we enter a complaint about a mortgage payment and a late fee. The model predicts Mortgages. Words such as mortgage and servicer contribute positively to that prediction. Each contribution equals the term's TF-IDF value multiplied by its SVM coefficient. The intercept plus all active contributions gives the final decision score. This is direct linear feature attribution. The score is uncalibrated and cannot be read as a confidence percentage. We can also show actual test mistakes, including a loan complaint that the model classified as credit reporting.</a:t>
            </a:r>
          </a:p>
          <a:p xmlns:a="http://schemas.openxmlformats.org/drawingml/2006/main">
            <a:r>
              <a:t/>
            </a:r>
          </a:p>
          <a:p xmlns:a="http://schemas.openxmlformats.org/drawingml/2006/main">
            <a:r>
              <a:t>DEMONSTRATION CUE</a:t>
            </a:r>
          </a:p>
          <a:p xmlns:a="http://schemas.openxmlformats.org/drawingml/2006/main">
            <a:r>
              <a:t>Live demo: paste the mortgage example, classify it and point to the contributing terms. Then show a recorded error. If the hosted site needs sign-in, use the offline HTML file or the Colab prediction cell.</a:t>
            </a:r>
          </a:p>
          <a:p xmlns:a="http://schemas.openxmlformats.org/drawingml/2006/main">
            <a:r>
              <a:t/>
            </a:r>
          </a:p>
          <a:p xmlns:a="http://schemas.openxmlformats.org/drawingml/2006/main">
            <a:r>
              <a:t>SOURCES</a:t>
            </a:r>
          </a:p>
          <a:p xmlns:a="http://schemas.openxmlformats.org/drawingml/2006/main">
            <a:r>
              <a:t>Team report, section 9, section 11 Case 2, and Annexure B. Exact term contributions: saved demo_prediction.json from the same verified notebook run. The chart shows selected positive terms, not the full contribution sum. Hosted demo: https://financial-complaint-demo-shorya.shoryaj.chatgpt.site/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delivers a runnable Colab pipeline, a performance audit, an explainability analysis and a one-page model card, together with a browser demonstration. The model card summarises the data, intended use, results and limitations. Every routing suggestion needs human review. The current prototype does not make credit or legal decisions. Our next priorities are more rare-category data, reliable human labels for writing style and calibrated review thresholds. The main lesson is that a useful overall score must be assessed alongside class-level errors and clear limitations. Thank you.</a:t>
            </a:r>
          </a:p>
          <a:p xmlns:a="http://schemas.openxmlformats.org/drawingml/2006/main">
            <a:r>
              <a:t/>
            </a:r>
          </a:p>
          <a:p xmlns:a="http://schemas.openxmlformats.org/drawingml/2006/main">
            <a:r>
              <a:t>SOURCES</a:t>
            </a:r>
          </a:p>
          <a:p xmlns:a="http://schemas.openxmlformats.org/drawingml/2006/main">
            <a:r>
              <a:t>Team report, sections 12 to 14 and Annexure A. Proposed near-zero margin or top-two gap thresholds of 0.10 are illustrative and are not implemented or validated. AI assistance supported code and documentation, as disclosed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431191561d4c1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fa56e4bdc647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e5b8b04b9d47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ec85e542f445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22405c2ca4043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981b12fa8d48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BD8CC1-3B1D-45CB-B3E8-F8F9EEFA8F5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EC8A2A9-07F9-45B1-97F2-FE99DFEDDEC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192A96-DE86-4D4A-BA9E-F9A542AAEE4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686BBB-925A-4C17-991F-A761BCCBC7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EF6523-D02A-4C97-84C1-BA07039F260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3864C29-2273-41CB-A904-5D6440A18F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2B9F91-0736-474D-AFF0-0127CB4766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9081DB6-AEF3-4BEA-8892-C091E69F82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9C52FE-C4F7-4F57-88A4-9FEA261A76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5143B7-5F69-4376-981E-653EF0A092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ec34aac33343be" /><Relationship Type="http://schemas.openxmlformats.org/officeDocument/2006/relationships/slideLayout" Target="/ppt/slideLayouts/slideLayout1.xml" Id="Ref9dac08b7ad4ba9" /><Relationship Type="http://schemas.openxmlformats.org/officeDocument/2006/relationships/slideLayout" Target="/ppt/slideLayouts/slideLayout2.xml" Id="R9f6d2faf8b654028" /><Relationship Type="http://schemas.openxmlformats.org/officeDocument/2006/relationships/slideLayout" Target="/ppt/slideLayouts/slideLayout3.xml" Id="Rf758b6ddc5f94d28" /><Relationship Type="http://schemas.openxmlformats.org/officeDocument/2006/relationships/slideLayout" Target="/ppt/slideLayouts/slideLayout4.xml" Id="Rce3be426479a4c58" /><Relationship Type="http://schemas.openxmlformats.org/officeDocument/2006/relationships/slideLayout" Target="/ppt/slideLayouts/slideLayout5.xml" Id="R20472514ab194205" /><Relationship Type="http://schemas.openxmlformats.org/officeDocument/2006/relationships/slideLayout" Target="/ppt/slideLayouts/slideLayout6.xml" Id="R9e4e1dd2168346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9dac08b7ad4ba9"/>
    <p:sldLayoutId xmlns:r="http://schemas.openxmlformats.org/officeDocument/2006/relationships" id="2147483650" r:id="R9f6d2faf8b654028"/>
    <p:sldLayoutId xmlns:r="http://schemas.openxmlformats.org/officeDocument/2006/relationships" id="2147483651" r:id="Rf758b6ddc5f94d28"/>
    <p:sldLayoutId xmlns:r="http://schemas.openxmlformats.org/officeDocument/2006/relationships" id="2147483652" r:id="Rce3be426479a4c58"/>
    <p:sldLayoutId xmlns:r="http://schemas.openxmlformats.org/officeDocument/2006/relationships" id="2147483653" r:id="R20472514ab194205"/>
    <p:sldLayoutId xmlns:r="http://schemas.openxmlformats.org/officeDocument/2006/relationships" id="2147483654" r:id="R9e4e1dd2168346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ed1f3ead98440d4" /><Relationship Type="http://schemas.openxmlformats.org/officeDocument/2006/relationships/image" Target="/ppt/media/image.png" Id="R35cfa5c17790439f" /><Relationship Type="http://schemas.openxmlformats.org/officeDocument/2006/relationships/notesSlide" Target="/ppt/notesSlides/notesSlide1.xml" Id="R6fcad3ad28a342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f71c37fd1d435e" /><Relationship Type="http://schemas.openxmlformats.org/officeDocument/2006/relationships/notesSlide" Target="/ppt/notesSlides/notesSlide2.xml" Id="Rc2dc203d131b49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d633d8ec8b4357" /><Relationship Type="http://schemas.openxmlformats.org/officeDocument/2006/relationships/chart" Target="/ppt/slides/charts/chart1.xml" Id="R9940d4e611f74c3c" /><Relationship Type="http://schemas.openxmlformats.org/officeDocument/2006/relationships/notesSlide" Target="/ppt/notesSlides/notesSlide3.xml" Id="Rb6bebeaa703f45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b73014caf814774" /><Relationship Type="http://schemas.openxmlformats.org/officeDocument/2006/relationships/chart" Target="/ppt/slides/charts/chart2.xml" Id="Raeff07fe6b62483c" /><Relationship Type="http://schemas.openxmlformats.org/officeDocument/2006/relationships/notesSlide" Target="/ppt/notesSlides/notesSlide4.xml" Id="R68168ff48c7a42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faee774097745a0" /><Relationship Type="http://schemas.openxmlformats.org/officeDocument/2006/relationships/chart" Target="/ppt/slides/charts/chart3.xml" Id="R9fb4c2aa0d61422c" /><Relationship Type="http://schemas.openxmlformats.org/officeDocument/2006/relationships/notesSlide" Target="/ppt/notesSlides/notesSlide5.xml" Id="R8fd62b33e2524c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6911b49f3ef4a0d" /><Relationship Type="http://schemas.openxmlformats.org/officeDocument/2006/relationships/chart" Target="/ppt/slides/charts/chart4.xml" Id="R8f8b2afc171e4209" /><Relationship Type="http://schemas.openxmlformats.org/officeDocument/2006/relationships/notesSlide" Target="/ppt/notesSlides/notesSlide6.xml" Id="R7276c02789fb46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5d70b1f6cb4432a" /><Relationship Type="http://schemas.openxmlformats.org/officeDocument/2006/relationships/chart" Target="/ppt/slides/charts/chart5.xml" Id="Rb0169236a91f42c3" /><Relationship Type="http://schemas.openxmlformats.org/officeDocument/2006/relationships/notesSlide" Target="/ppt/notesSlides/notesSlide7.xml" Id="R3bbbf634148e4b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e2736077667484a" /><Relationship Type="http://schemas.openxmlformats.org/officeDocument/2006/relationships/chart" Target="/ppt/slides/charts/chart6.xml" Id="R87aed402df6b4c48" /><Relationship Type="http://schemas.openxmlformats.org/officeDocument/2006/relationships/notesSlide" Target="/ppt/notesSlides/notesSlide8.xml" Id="R145bec45c4f54c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4a96c7e79f84f88" /><Relationship Type="http://schemas.openxmlformats.org/officeDocument/2006/relationships/chart" Target="/ppt/slides/charts/chart7.xml" Id="R0205643c9afe484e" /><Relationship Type="http://schemas.openxmlformats.org/officeDocument/2006/relationships/hyperlink" Target="https://financial-complaint-demo-shorya.shoryaj.chatgpt.site/" TargetMode="External" Id="Raf6ac881f4c54eab" /><Relationship Type="http://schemas.openxmlformats.org/officeDocument/2006/relationships/notesSlide" Target="/ppt/notesSlides/notesSlide9.xml" Id="R907ecb8ede8d47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3938f84b29e486a" /><Relationship Type="http://schemas.openxmlformats.org/officeDocument/2006/relationships/image" Target="/ppt/media/image2.png" Id="Ra6b0ef11c25541c0" /><Relationship Type="http://schemas.openxmlformats.org/officeDocument/2006/relationships/notesSlide" Target="/ppt/notesSlides/notesSlide10.xml" Id="Rff5eaaa76c8644c0" /></Relationships>
</file>

<file path=ppt/slides/charts/chart1.xml><?xml version="1.0" encoding="utf-8"?>
<c:chartSpace xmlns:c="http://schemas.openxmlformats.org/drawingml/2006/chart">
  <c:lang val="en-US"/>
  <c:chart>
    <c:plotArea>
      <c:barChart>
        <c:barDir val="bar"/>
        <c:grouping val="clustered"/>
        <c:varyColors val="0"/>
        <c:ser>
          <c:idx val="0"/>
          <c:order val="0"/>
          <c:tx>
            <c:v>Narratives remaining</c:v>
          </c:tx>
          <c:spPr>
            <a:solidFill xmlns:a="http://schemas.openxmlformats.org/drawingml/2006/main">
              <a:srgbClr val="73AAD7"/>
            </a:solidFill>
          </c:spPr>
          <c:dPt>
            <c:idx val="0"/>
            <c:invertIfNegative val="0"/>
            <c:spPr>
              <a:solidFill xmlns:a="http://schemas.openxmlformats.org/drawingml/2006/main">
                <a:srgbClr val="42CCB9"/>
              </a:solidFill>
            </c:spPr>
          </c:dPt>
          <c:dPt>
            <c:idx val="1"/>
            <c:invertIfNegative val="0"/>
            <c:spPr>
              <a:solidFill xmlns:a="http://schemas.openxmlformats.org/drawingml/2006/main">
                <a:srgbClr val="E4BC79"/>
              </a:solidFill>
            </c:spPr>
          </c:dPt>
          <c:dPt>
            <c:idx val="2"/>
            <c:invertIfNegative val="0"/>
            <c:spPr>
              <a:solidFill xmlns:a="http://schemas.openxmlformats.org/drawingml/2006/main">
                <a:srgbClr val="73AAD7"/>
              </a:solidFill>
            </c:spPr>
          </c:dPt>
          <c:dPt>
            <c:idx val="3"/>
            <c:invertIfNegative val="0"/>
            <c:spPr>
              <a:solidFill xmlns:a="http://schemas.openxmlformats.org/drawingml/2006/main">
                <a:srgbClr val="73AAD7"/>
              </a:solidFill>
            </c:spPr>
          </c:dPt>
          <c:dPt>
            <c:idx val="4"/>
            <c:invertIfNegative val="0"/>
            <c:spPr>
              <a:solidFill xmlns:a="http://schemas.openxmlformats.org/drawingml/2006/main">
                <a:srgbClr val="73AAD7"/>
              </a:solidFill>
            </c:spPr>
          </c:dPt>
          <c:cat>
            <c:strLit>
              <c:ptCount val="5"/>
              <c:pt idx="0">
                <c:v>Rare labels removed</c:v>
              </c:pt>
              <c:pt idx="1">
                <c:v>Duplicates removed</c:v>
              </c:pt>
              <c:pt idx="2">
                <c:v>Conflicting labels removed</c:v>
              </c:pt>
              <c:pt idx="3">
                <c:v>Minimum length check</c:v>
              </c:pt>
              <c:pt idx="4">
                <c:v>API snapshot</c:v>
              </c:pt>
            </c:strLit>
          </c:cat>
          <c:val>
            <c:numLit>
              <c:formatCode>#,##0</c:formatCode>
              <c:ptCount val="5"/>
              <c:pt idx="0">
                <c:v>5042</c:v>
              </c:pt>
              <c:pt idx="1">
                <c:v>5079</c:v>
              </c:pt>
              <c:pt idx="2">
                <c:v>9803</c:v>
              </c:pt>
              <c:pt idx="3">
                <c:v>9993</c:v>
              </c:pt>
              <c:pt idx="4">
                <c:v>10000</c:v>
              </c:pt>
            </c:numLit>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F2F6F8"/>
                  </a:solidFill>
                  <a:latin typeface="Nimbus Sans"/>
                  <a:ea typeface="Nimbus Sans"/>
                  <a:cs typeface="Nimbus Sans"/>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AEC0CD"/>
                </a:solidFill>
                <a:latin typeface="Nimbus Sans"/>
                <a:ea typeface="Nimbus Sans"/>
                <a:cs typeface="Nimbus Sans"/>
              </a:defRPr>
            </a:pPr>
          </a:p>
        </c:txPr>
        <c:crossAx val="48672768"/>
      </c:catAx>
      <c:valAx>
        <c:axId val="48672768"/>
        <c:scaling>
          <c:orientation val="minMax"/>
          <c:max val="10800"/>
          <c:min val="0"/>
        </c:scaling>
        <c:delete val="0"/>
        <c:axPos val="b"/>
        <c:majorGridlines>
          <c:spPr>
            <a:ln xmlns:a="http://schemas.openxmlformats.org/drawingml/2006/main" w="9525">
              <a:solidFill>
                <a:srgbClr val="263B49"/>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AEC0CD"/>
                </a:solidFill>
                <a:latin typeface="Nimbus Sans"/>
                <a:ea typeface="Nimbus Sans"/>
                <a:cs typeface="Nimbus Sans"/>
              </a:defRPr>
            </a:pPr>
          </a:p>
        </c:txPr>
        <c:crossAx val="48650112"/>
        <c:crossBetween val="between"/>
      </c:valAx>
      <c:spPr>
        <a:solidFill xmlns:a="http://schemas.openxmlformats.org/drawingml/2006/main">
          <a:srgbClr val="081620"/>
        </a:solidFill>
        <a:ln xmlns:a="http://schemas.openxmlformats.org/drawingml/2006/main" w="0">
          <a:noFill/>
        </a:ln>
      </c:spPr>
    </c:plotArea>
    <c:plotVisOnly val="1"/>
  </c:chart>
  <c:spPr>
    <a:solidFill xmlns:a="http://schemas.openxmlformats.org/drawingml/2006/main">
      <a:srgbClr val="081620"/>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bar"/>
        <c:grouping val="stacked"/>
        <c:varyColors val="0"/>
        <c:ser>
          <c:idx val="0"/>
          <c:order val="0"/>
          <c:tx>
            <c:v>Training</c:v>
          </c:tx>
          <c:spPr>
            <a:solidFill xmlns:a="http://schemas.openxmlformats.org/drawingml/2006/main">
              <a:srgbClr val="42CCB9"/>
            </a:solidFill>
          </c:spPr>
          <c:cat>
            <c:strLit>
              <c:ptCount val="1"/>
              <c:pt idx="0">
                <c:v>Narratives</c:v>
              </c:pt>
            </c:strLit>
          </c:cat>
          <c:val>
            <c:numLit>
              <c:formatCode>General</c:formatCode>
              <c:ptCount val="1"/>
              <c:pt idx="0">
                <c:v>3529</c:v>
              </c:pt>
            </c:numLit>
          </c:val>
        </c:ser>
        <c:ser>
          <c:idx val="1"/>
          <c:order val="1"/>
          <c:tx>
            <c:v>Validation</c:v>
          </c:tx>
          <c:spPr>
            <a:solidFill xmlns:a="http://schemas.openxmlformats.org/drawingml/2006/main">
              <a:srgbClr val="E4BC79"/>
            </a:solidFill>
          </c:spPr>
          <c:cat>
            <c:strLit>
              <c:ptCount val="1"/>
              <c:pt idx="0">
                <c:v>Narratives</c:v>
              </c:pt>
            </c:strLit>
          </c:cat>
          <c:val>
            <c:numLit>
              <c:formatCode>General</c:formatCode>
              <c:ptCount val="1"/>
              <c:pt idx="0">
                <c:v>756</c:v>
              </c:pt>
            </c:numLit>
          </c:val>
        </c:ser>
        <c:ser>
          <c:idx val="2"/>
          <c:order val="2"/>
          <c:tx>
            <c:v>Test</c:v>
          </c:tx>
          <c:spPr>
            <a:solidFill xmlns:a="http://schemas.openxmlformats.org/drawingml/2006/main">
              <a:srgbClr val="73AAD7"/>
            </a:solidFill>
          </c:spPr>
          <c:cat>
            <c:strLit>
              <c:ptCount val="1"/>
              <c:pt idx="0">
                <c:v>Narratives</c:v>
              </c:pt>
            </c:strLit>
          </c:cat>
          <c:val>
            <c:numLit>
              <c:formatCode>General</c:formatCode>
              <c:ptCount val="1"/>
              <c:pt idx="0">
                <c:v>757</c:v>
              </c:pt>
            </c:numLit>
          </c:val>
        </c:ser>
        <c:dLbls>
          <c:numFmt formatCode="#,##0" sourceLinked="0"/>
          <c:txPr>
            <a:bodyPr xmlns:a="http://schemas.openxmlformats.org/drawingml/2006/main" anchorCtr="1"/>
            <a:lstStyle xmlns:a="http://schemas.openxmlformats.org/drawingml/2006/main"/>
            <a:p xmlns:a="http://schemas.openxmlformats.org/drawingml/2006/main">
              <a:pPr>
                <a:defRPr sz="1875" b="1">
                  <a:solidFill>
                    <a:srgbClr val="081620"/>
                  </a:solidFill>
                  <a:latin typeface="Nimbus Sans"/>
                  <a:ea typeface="Nimbus Sans"/>
                  <a:cs typeface="Nimbus Sans"/>
                </a:defRPr>
              </a:pPr>
            </a:p>
          </c:txPr>
          <c:dLblPos val="ctr"/>
          <c:showLegendKey val="0"/>
          <c:showVal val="1"/>
          <c:showCatName val="0"/>
          <c:showSerName val="0"/>
          <c:showPercent val="0"/>
          <c:showBubbleSize val="0"/>
          <c:showLeaderLines val="0"/>
        </c:dLbls>
        <c:gapWidth val="6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imbus Sans"/>
                <a:ea typeface="Nimbus Sans"/>
                <a:cs typeface="Nimbus Sans"/>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imbus Sans"/>
                <a:ea typeface="Nimbus Sans"/>
                <a:cs typeface="Nimbus Sans"/>
              </a:defRPr>
            </a:pPr>
          </a:p>
        </c:txPr>
        <c:crossAx val="48650112"/>
        <c:crossBetween val="between"/>
      </c:valAx>
      <c:spPr>
        <a:solidFill xmlns:a="http://schemas.openxmlformats.org/drawingml/2006/main">
          <a:srgbClr val="081620"/>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F2F6F8"/>
              </a:solidFill>
              <a:latin typeface="Nimbus Sans"/>
              <a:ea typeface="Nimbus Sans"/>
              <a:cs typeface="Nimbus Sans"/>
            </a:defRPr>
          </a:pPr>
        </a:p>
      </c:txPr>
    </c:legend>
    <c:plotVisOnly val="1"/>
  </c:chart>
  <c:spPr>
    <a:solidFill xmlns:a="http://schemas.openxmlformats.org/drawingml/2006/main">
      <a:srgbClr val="081620"/>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Validation Macro-F1</c:v>
          </c:tx>
          <c:spPr>
            <a:solidFill xmlns:a="http://schemas.openxmlformats.org/drawingml/2006/main">
              <a:srgbClr val="73AAD7"/>
            </a:solidFill>
          </c:spPr>
          <c:dPt>
            <c:idx val="0"/>
            <c:invertIfNegative val="0"/>
            <c:spPr>
              <a:solidFill xmlns:a="http://schemas.openxmlformats.org/drawingml/2006/main">
                <a:srgbClr val="E4BC79"/>
              </a:solidFill>
            </c:spPr>
          </c:dPt>
          <c:dPt>
            <c:idx val="1"/>
            <c:invertIfNegative val="0"/>
            <c:spPr>
              <a:solidFill xmlns:a="http://schemas.openxmlformats.org/drawingml/2006/main">
                <a:srgbClr val="73AAD7"/>
              </a:solidFill>
            </c:spPr>
          </c:dPt>
          <c:dPt>
            <c:idx val="2"/>
            <c:invertIfNegative val="0"/>
            <c:spPr>
              <a:solidFill xmlns:a="http://schemas.openxmlformats.org/drawingml/2006/main">
                <a:srgbClr val="73AAD7"/>
              </a:solidFill>
            </c:spPr>
          </c:dPt>
          <c:dPt>
            <c:idx val="3"/>
            <c:invertIfNegative val="0"/>
            <c:spPr>
              <a:solidFill xmlns:a="http://schemas.openxmlformats.org/drawingml/2006/main">
                <a:srgbClr val="73AAD7"/>
              </a:solidFill>
            </c:spPr>
          </c:dPt>
          <c:dPt>
            <c:idx val="4"/>
            <c:invertIfNegative val="0"/>
            <c:spPr>
              <a:solidFill xmlns:a="http://schemas.openxmlformats.org/drawingml/2006/main">
                <a:srgbClr val="73AAD7"/>
              </a:solidFill>
            </c:spPr>
          </c:dPt>
          <c:dPt>
            <c:idx val="5"/>
            <c:invertIfNegative val="0"/>
            <c:spPr>
              <a:solidFill xmlns:a="http://schemas.openxmlformats.org/drawingml/2006/main">
                <a:srgbClr val="42CCB9"/>
              </a:solidFill>
            </c:spPr>
          </c:dPt>
          <c:cat>
            <c:strLit>
              <c:ptCount val="6"/>
              <c:pt idx="0">
                <c:v>Majority baseline</c:v>
              </c:pt>
              <c:pt idx="1">
                <c:v>Random forest</c:v>
              </c:pt>
              <c:pt idx="2">
                <c:v>Logistic regression C=4</c:v>
              </c:pt>
              <c:pt idx="3">
                <c:v>Logistic regression C=1</c:v>
              </c:pt>
              <c:pt idx="4">
                <c:v>Linear SVM C=0.5</c:v>
              </c:pt>
              <c:pt idx="5">
                <c:v>Linear SVM C=1</c:v>
              </c:pt>
            </c:strLit>
          </c:cat>
          <c:val>
            <c:numLit>
              <c:formatCode>0.0</c:formatCode>
              <c:ptCount val="6"/>
              <c:pt idx="0">
                <c:v>0.0926</c:v>
              </c:pt>
              <c:pt idx="1">
                <c:v>0.5294</c:v>
              </c:pt>
              <c:pt idx="2">
                <c:v>0.6354</c:v>
              </c:pt>
              <c:pt idx="3">
                <c:v>0.6462</c:v>
              </c:pt>
              <c:pt idx="4">
                <c:v>0.6724</c:v>
              </c:pt>
              <c:pt idx="5">
                <c:v>0.6737</c:v>
              </c:pt>
            </c:numLit>
          </c:val>
        </c:ser>
        <c:dLbls>
          <c:numFmt formatCode="0.0000" sourceLinked="0"/>
          <c:txPr>
            <a:bodyPr xmlns:a="http://schemas.openxmlformats.org/drawingml/2006/main" anchorCtr="1"/>
            <a:lstStyle xmlns:a="http://schemas.openxmlformats.org/drawingml/2006/main"/>
            <a:p xmlns:a="http://schemas.openxmlformats.org/drawingml/2006/main">
              <a:pPr>
                <a:defRPr sz="1650" b="1">
                  <a:solidFill>
                    <a:srgbClr val="F2F6F8"/>
                  </a:solidFill>
                  <a:latin typeface="Nimbus Sans"/>
                  <a:ea typeface="Nimbus Sans"/>
                  <a:cs typeface="Nimbus Sans"/>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AEC0CD"/>
                </a:solidFill>
                <a:latin typeface="Nimbus Sans"/>
                <a:ea typeface="Nimbus Sans"/>
                <a:cs typeface="Nimbus Sans"/>
              </a:defRPr>
            </a:pPr>
          </a:p>
        </c:txPr>
        <c:crossAx val="48672768"/>
      </c:catAx>
      <c:valAx>
        <c:axId val="48672768"/>
        <c:scaling>
          <c:orientation val="minMax"/>
          <c:max val="0.79"/>
          <c:min val="0"/>
        </c:scaling>
        <c:delete val="0"/>
        <c:axPos val="b"/>
        <c:majorGridlines>
          <c:spPr>
            <a:ln xmlns:a="http://schemas.openxmlformats.org/drawingml/2006/main" w="9525">
              <a:solidFill>
                <a:srgbClr val="263B49"/>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AEC0CD"/>
                </a:solidFill>
                <a:latin typeface="Nimbus Sans"/>
                <a:ea typeface="Nimbus Sans"/>
                <a:cs typeface="Nimbus Sans"/>
              </a:defRPr>
            </a:pPr>
          </a:p>
        </c:txPr>
        <c:crossAx val="48650112"/>
        <c:crossBetween val="between"/>
        <c:majorUnit val="0.2"/>
      </c:valAx>
      <c:spPr>
        <a:solidFill xmlns:a="http://schemas.openxmlformats.org/drawingml/2006/main">
          <a:srgbClr val="081620"/>
        </a:solidFill>
        <a:ln xmlns:a="http://schemas.openxmlformats.org/drawingml/2006/main" w="0">
          <a:noFill/>
        </a:ln>
      </c:spPr>
    </c:plotArea>
    <c:plotVisOnly val="1"/>
  </c:chart>
  <c:spPr>
    <a:solidFill xmlns:a="http://schemas.openxmlformats.org/drawingml/2006/main">
      <a:srgbClr val="081620"/>
    </a:solidFill>
    <a:ln xmlns:a="http://schemas.openxmlformats.org/drawingml/2006/main" w="0">
      <a:noFill/>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Test accuracy</c:v>
          </c:tx>
          <c:spPr>
            <a:solidFill xmlns:a="http://schemas.openxmlformats.org/drawingml/2006/main">
              <a:srgbClr val="42CCB9"/>
            </a:solidFill>
          </c:spPr>
          <c:dPt>
            <c:idx val="0"/>
            <c:invertIfNegative val="0"/>
            <c:spPr>
              <a:solidFill xmlns:a="http://schemas.openxmlformats.org/drawingml/2006/main">
                <a:srgbClr val="E4BC79"/>
              </a:solidFill>
            </c:spPr>
          </c:dPt>
          <c:dPt>
            <c:idx val="1"/>
            <c:invertIfNegative val="0"/>
            <c:spPr>
              <a:solidFill xmlns:a="http://schemas.openxmlformats.org/drawingml/2006/main">
                <a:srgbClr val="42CCB9"/>
              </a:solidFill>
            </c:spPr>
          </c:dPt>
          <c:cat>
            <c:strLit>
              <c:ptCount val="2"/>
              <c:pt idx="0">
                <c:v>Majority baseline</c:v>
              </c:pt>
              <c:pt idx="1">
                <c:v>Linear SVM</c:v>
              </c:pt>
            </c:strLit>
          </c:cat>
          <c:val>
            <c:numLit>
              <c:formatCode>0%</c:formatCode>
              <c:ptCount val="2"/>
              <c:pt idx="0">
                <c:v>0.7133</c:v>
              </c:pt>
              <c:pt idx="1">
                <c:v>0.889</c:v>
              </c:pt>
            </c:numLit>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F2F6F8"/>
                  </a:solidFill>
                  <a:latin typeface="Nimbus Sans"/>
                  <a:ea typeface="Nimbus Sans"/>
                  <a:cs typeface="Nimbus Sans"/>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AEC0CD"/>
                </a:solidFill>
                <a:latin typeface="Nimbus Sans"/>
                <a:ea typeface="Nimbus Sans"/>
                <a:cs typeface="Nimbus Sans"/>
              </a:defRPr>
            </a:pPr>
          </a:p>
        </c:txPr>
        <c:crossAx val="48672768"/>
      </c:catAx>
      <c:valAx>
        <c:axId val="48672768"/>
        <c:scaling>
          <c:orientation val="minMax"/>
          <c:max val="1"/>
          <c:min val="0"/>
        </c:scaling>
        <c:delete val="0"/>
        <c:axPos val="l"/>
        <c:majorGridlines>
          <c:spPr>
            <a:ln xmlns:a="http://schemas.openxmlformats.org/drawingml/2006/main" w="9525">
              <a:solidFill>
                <a:srgbClr val="263B49"/>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AEC0CD"/>
                </a:solidFill>
                <a:latin typeface="Nimbus Sans"/>
                <a:ea typeface="Nimbus Sans"/>
                <a:cs typeface="Nimbus Sans"/>
              </a:defRPr>
            </a:pPr>
          </a:p>
        </c:txPr>
        <c:crossAx val="48650112"/>
        <c:crossBetween val="between"/>
        <c:majorUnit val="0.2"/>
      </c:valAx>
      <c:spPr>
        <a:solidFill xmlns:a="http://schemas.openxmlformats.org/drawingml/2006/main">
          <a:srgbClr val="081620"/>
        </a:solidFill>
        <a:ln xmlns:a="http://schemas.openxmlformats.org/drawingml/2006/main" w="0">
          <a:noFill/>
        </a:ln>
      </c:spPr>
    </c:plotArea>
    <c:plotVisOnly val="1"/>
  </c:chart>
  <c:spPr>
    <a:solidFill xmlns:a="http://schemas.openxmlformats.org/drawingml/2006/main">
      <a:srgbClr val="081620"/>
    </a:solidFill>
    <a:ln xmlns:a="http://schemas.openxmlformats.org/drawingml/2006/main" w="0">
      <a:noFill/>
    </a:ln>
  </c:spPr>
</c:chartSpace>
</file>

<file path=ppt/slides/charts/chart5.xml><?xml version="1.0" encoding="utf-8"?>
<c:chartSpace xmlns:c="http://schemas.openxmlformats.org/drawingml/2006/chart">
  <c:lang val="en-US"/>
  <c:chart>
    <c:plotArea>
      <c:barChart>
        <c:barDir val="bar"/>
        <c:grouping val="clustered"/>
        <c:varyColors val="0"/>
        <c:ser>
          <c:idx val="0"/>
          <c:order val="0"/>
          <c:tx>
            <c:v>Category F1</c:v>
          </c:tx>
          <c:spPr>
            <a:solidFill xmlns:a="http://schemas.openxmlformats.org/drawingml/2006/main">
              <a:srgbClr val="42CCB9"/>
            </a:solidFill>
          </c:spPr>
          <c:dPt>
            <c:idx val="0"/>
            <c:invertIfNegative val="0"/>
            <c:spPr>
              <a:solidFill xmlns:a="http://schemas.openxmlformats.org/drawingml/2006/main">
                <a:srgbClr val="FA8498"/>
              </a:solidFill>
            </c:spPr>
          </c:dPt>
          <c:dPt>
            <c:idx val="1"/>
            <c:invertIfNegative val="0"/>
            <c:spPr>
              <a:solidFill xmlns:a="http://schemas.openxmlformats.org/drawingml/2006/main">
                <a:srgbClr val="42CCB9"/>
              </a:solidFill>
            </c:spPr>
          </c:dPt>
          <c:dPt>
            <c:idx val="2"/>
            <c:invertIfNegative val="0"/>
            <c:spPr>
              <a:solidFill xmlns:a="http://schemas.openxmlformats.org/drawingml/2006/main">
                <a:srgbClr val="42CCB9"/>
              </a:solidFill>
            </c:spPr>
          </c:dPt>
          <c:dPt>
            <c:idx val="3"/>
            <c:invertIfNegative val="0"/>
            <c:spPr>
              <a:solidFill xmlns:a="http://schemas.openxmlformats.org/drawingml/2006/main">
                <a:srgbClr val="42CCB9"/>
              </a:solidFill>
            </c:spPr>
          </c:dPt>
          <c:dPt>
            <c:idx val="4"/>
            <c:invertIfNegative val="0"/>
            <c:spPr>
              <a:solidFill xmlns:a="http://schemas.openxmlformats.org/drawingml/2006/main">
                <a:srgbClr val="42CCB9"/>
              </a:solidFill>
            </c:spPr>
          </c:dPt>
          <c:dPt>
            <c:idx val="5"/>
            <c:invertIfNegative val="0"/>
            <c:spPr>
              <a:solidFill xmlns:a="http://schemas.openxmlformats.org/drawingml/2006/main">
                <a:srgbClr val="42CCB9"/>
              </a:solidFill>
            </c:spPr>
          </c:dPt>
          <c:dPt>
            <c:idx val="6"/>
            <c:invertIfNegative val="0"/>
            <c:spPr>
              <a:solidFill xmlns:a="http://schemas.openxmlformats.org/drawingml/2006/main">
                <a:srgbClr val="42CCB9"/>
              </a:solidFill>
            </c:spPr>
          </c:dPt>
          <c:dPt>
            <c:idx val="7"/>
            <c:invertIfNegative val="0"/>
            <c:spPr>
              <a:solidFill xmlns:a="http://schemas.openxmlformats.org/drawingml/2006/main">
                <a:srgbClr val="42CCB9"/>
              </a:solidFill>
            </c:spPr>
          </c:dPt>
          <c:dPt>
            <c:idx val="8"/>
            <c:invertIfNegative val="0"/>
            <c:spPr>
              <a:solidFill xmlns:a="http://schemas.openxmlformats.org/drawingml/2006/main">
                <a:srgbClr val="42CCB9"/>
              </a:solidFill>
            </c:spPr>
          </c:dPt>
          <c:cat>
            <c:strLit>
              <c:ptCount val="9"/>
              <c:pt idx="0">
                <c:v>Payday/title/personal loans (6)</c:v>
              </c:pt>
              <c:pt idx="1">
                <c:v>Student loans (9)</c:v>
              </c:pt>
              <c:pt idx="2">
                <c:v>Vehicle loans (10)</c:v>
              </c:pt>
              <c:pt idx="3">
                <c:v>Money services (14)</c:v>
              </c:pt>
              <c:pt idx="4">
                <c:v>Mortgages (15)</c:v>
              </c:pt>
              <c:pt idx="5">
                <c:v>Credit cards (44)</c:v>
              </c:pt>
              <c:pt idx="6">
                <c:v>Bank accounts (45)</c:v>
              </c:pt>
              <c:pt idx="7">
                <c:v>Debt collection (74)</c:v>
              </c:pt>
              <c:pt idx="8">
                <c:v>Credit reporting (540)</c:v>
              </c:pt>
            </c:strLit>
          </c:cat>
          <c:val>
            <c:numLit>
              <c:formatCode>0.0</c:formatCode>
              <c:ptCount val="9"/>
              <c:pt idx="0">
                <c:v>0</c:v>
              </c:pt>
              <c:pt idx="1">
                <c:v>0.75</c:v>
              </c:pt>
              <c:pt idx="2">
                <c:v>0.588</c:v>
              </c:pt>
              <c:pt idx="3">
                <c:v>0.72</c:v>
              </c:pt>
              <c:pt idx="4">
                <c:v>0.889</c:v>
              </c:pt>
              <c:pt idx="5">
                <c:v>0.753</c:v>
              </c:pt>
              <c:pt idx="6">
                <c:v>0.758</c:v>
              </c:pt>
              <c:pt idx="7">
                <c:v>0.746</c:v>
              </c:pt>
              <c:pt idx="8">
                <c:v>0.946</c:v>
              </c:pt>
            </c:numLit>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F2F6F8"/>
                  </a:solidFill>
                  <a:latin typeface="Nimbus Sans"/>
                  <a:ea typeface="Nimbus Sans"/>
                  <a:cs typeface="Nimbus Sans"/>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AEC0CD"/>
                </a:solidFill>
                <a:latin typeface="Nimbus Sans"/>
                <a:ea typeface="Nimbus Sans"/>
                <a:cs typeface="Nimbus Sans"/>
              </a:defRPr>
            </a:pPr>
          </a:p>
        </c:txPr>
        <c:crossAx val="48672768"/>
      </c:catAx>
      <c:valAx>
        <c:axId val="48672768"/>
        <c:scaling>
          <c:orientation val="minMax"/>
          <c:max val="1.12"/>
          <c:min val="0"/>
        </c:scaling>
        <c:delete val="0"/>
        <c:axPos val="b"/>
        <c:majorGridlines>
          <c:spPr>
            <a:ln xmlns:a="http://schemas.openxmlformats.org/drawingml/2006/main" w="9525">
              <a:solidFill>
                <a:srgbClr val="263B49"/>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AEC0CD"/>
                </a:solidFill>
                <a:latin typeface="Nimbus Sans"/>
                <a:ea typeface="Nimbus Sans"/>
                <a:cs typeface="Nimbus Sans"/>
              </a:defRPr>
            </a:pPr>
          </a:p>
        </c:txPr>
        <c:crossAx val="48650112"/>
        <c:crossBetween val="between"/>
        <c:majorUnit val="0.2"/>
      </c:valAx>
      <c:spPr>
        <a:solidFill xmlns:a="http://schemas.openxmlformats.org/drawingml/2006/main">
          <a:srgbClr val="081620"/>
        </a:solidFill>
        <a:ln xmlns:a="http://schemas.openxmlformats.org/drawingml/2006/main" w="0">
          <a:noFill/>
        </a:ln>
      </c:spPr>
    </c:plotArea>
    <c:plotVisOnly val="1"/>
  </c:chart>
  <c:spPr>
    <a:solidFill xmlns:a="http://schemas.openxmlformats.org/drawingml/2006/main">
      <a:srgbClr val="081620"/>
    </a:solidFill>
    <a:ln xmlns:a="http://schemas.openxmlformats.org/drawingml/2006/main" w="0">
      <a:noFill/>
    </a:ln>
  </c:spPr>
</c:chartSpace>
</file>

<file path=ppt/slides/charts/chart6.xml><?xml version="1.0" encoding="utf-8"?>
<c:chartSpace xmlns:c="http://schemas.openxmlformats.org/drawingml/2006/chart">
  <c:lang val="en-US"/>
  <c:chart>
    <c:plotArea>
      <c:barChart>
        <c:barDir val="col"/>
        <c:grouping val="clustered"/>
        <c:varyColors val="0"/>
        <c:ser>
          <c:idx val="0"/>
          <c:order val="0"/>
          <c:tx>
            <c:v>Length-group accuracy</c:v>
          </c:tx>
          <c:spPr>
            <a:solidFill xmlns:a="http://schemas.openxmlformats.org/drawingml/2006/main">
              <a:srgbClr val="42CCB9"/>
            </a:solidFill>
          </c:spPr>
          <c:dPt>
            <c:idx val="0"/>
            <c:invertIfNegative val="0"/>
            <c:spPr>
              <a:solidFill xmlns:a="http://schemas.openxmlformats.org/drawingml/2006/main">
                <a:srgbClr val="73AAD7"/>
              </a:solidFill>
            </c:spPr>
          </c:dPt>
          <c:dPt>
            <c:idx val="1"/>
            <c:invertIfNegative val="0"/>
            <c:spPr>
              <a:solidFill xmlns:a="http://schemas.openxmlformats.org/drawingml/2006/main">
                <a:srgbClr val="E4BC79"/>
              </a:solidFill>
            </c:spPr>
          </c:dPt>
          <c:dPt>
            <c:idx val="2"/>
            <c:invertIfNegative val="0"/>
            <c:spPr>
              <a:solidFill xmlns:a="http://schemas.openxmlformats.org/drawingml/2006/main">
                <a:srgbClr val="42CCB9"/>
              </a:solidFill>
            </c:spPr>
          </c:dPt>
          <c:cat>
            <c:strLit>
              <c:ptCount val="3"/>
              <c:pt idx="0">
                <c:v>Short ≤50 words
n=118</c:v>
              </c:pt>
              <c:pt idx="1">
                <c:v>Medium 51–199
n=376</c:v>
              </c:pt>
              <c:pt idx="2">
                <c:v>Long ≥200 words
n=263</c:v>
              </c:pt>
            </c:strLit>
          </c:cat>
          <c:val>
            <c:numLit>
              <c:formatCode>0%</c:formatCode>
              <c:ptCount val="3"/>
              <c:pt idx="0">
                <c:v>0.8390000000000001</c:v>
              </c:pt>
              <c:pt idx="1">
                <c:v>0.9043000000000001</c:v>
              </c:pt>
              <c:pt idx="2">
                <c:v>0.8896999999999999</c:v>
              </c:pt>
            </c:numLit>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F2F6F8"/>
                  </a:solidFill>
                  <a:latin typeface="Nimbus Sans"/>
                  <a:ea typeface="Nimbus Sans"/>
                  <a:cs typeface="Nimbus Sans"/>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AEC0CD"/>
                </a:solidFill>
                <a:latin typeface="Nimbus Sans"/>
                <a:ea typeface="Nimbus Sans"/>
                <a:cs typeface="Nimbus Sans"/>
              </a:defRPr>
            </a:pPr>
          </a:p>
        </c:txPr>
        <c:crossAx val="48672768"/>
      </c:catAx>
      <c:valAx>
        <c:axId val="48672768"/>
        <c:scaling>
          <c:orientation val="minMax"/>
          <c:max val="1"/>
          <c:min val="0"/>
        </c:scaling>
        <c:delete val="0"/>
        <c:axPos val="l"/>
        <c:majorGridlines>
          <c:spPr>
            <a:ln xmlns:a="http://schemas.openxmlformats.org/drawingml/2006/main" w="9525">
              <a:solidFill>
                <a:srgbClr val="263B49"/>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AEC0CD"/>
                </a:solidFill>
                <a:latin typeface="Nimbus Sans"/>
                <a:ea typeface="Nimbus Sans"/>
                <a:cs typeface="Nimbus Sans"/>
              </a:defRPr>
            </a:pPr>
          </a:p>
        </c:txPr>
        <c:crossAx val="48650112"/>
        <c:crossBetween val="between"/>
        <c:majorUnit val="0.2"/>
      </c:valAx>
      <c:spPr>
        <a:solidFill xmlns:a="http://schemas.openxmlformats.org/drawingml/2006/main">
          <a:srgbClr val="081620"/>
        </a:solidFill>
        <a:ln xmlns:a="http://schemas.openxmlformats.org/drawingml/2006/main" w="0">
          <a:noFill/>
        </a:ln>
      </c:spPr>
    </c:plotArea>
    <c:plotVisOnly val="1"/>
  </c:chart>
  <c:spPr>
    <a:solidFill xmlns:a="http://schemas.openxmlformats.org/drawingml/2006/main">
      <a:srgbClr val="081620"/>
    </a:solidFill>
    <a:ln xmlns:a="http://schemas.openxmlformats.org/drawingml/2006/main" w="0">
      <a:noFill/>
    </a:ln>
  </c:spPr>
</c:chartSpace>
</file>

<file path=ppt/slides/charts/chart7.xml><?xml version="1.0" encoding="utf-8"?>
<c:chartSpace xmlns:c="http://schemas.openxmlformats.org/drawingml/2006/chart">
  <c:lang val="en-US"/>
  <c:chart>
    <c:plotArea>
      <c:barChart>
        <c:barDir val="bar"/>
        <c:grouping val="clustered"/>
        <c:varyColors val="0"/>
        <c:ser>
          <c:idx val="0"/>
          <c:order val="0"/>
          <c:tx>
            <c:v>Selected positive score contributions</c:v>
          </c:tx>
          <c:spPr>
            <a:solidFill xmlns:a="http://schemas.openxmlformats.org/drawingml/2006/main">
              <a:srgbClr val="42CCB9"/>
            </a:solidFill>
          </c:spPr>
          <c:cat>
            <c:strLit>
              <c:ptCount val="4"/>
              <c:pt idx="0">
                <c:v>fee</c:v>
              </c:pt>
              <c:pt idx="1">
                <c:v>servicer</c:v>
              </c:pt>
              <c:pt idx="2">
                <c:v>my mortgage</c:v>
              </c:pt>
              <c:pt idx="3">
                <c:v>mortgage</c:v>
              </c:pt>
            </c:strLit>
          </c:cat>
          <c:val>
            <c:numLit>
              <c:formatCode>0.0</c:formatCode>
              <c:ptCount val="4"/>
              <c:pt idx="0">
                <c:v>0.11454615977353318</c:v>
              </c:pt>
              <c:pt idx="1">
                <c:v>0.12972088000523013</c:v>
              </c:pt>
              <c:pt idx="2">
                <c:v>0.4567152259294456</c:v>
              </c:pt>
              <c:pt idx="3">
                <c:v>0.8469629494491407</c:v>
              </c:pt>
            </c:numLit>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F2F6F8"/>
                  </a:solidFill>
                  <a:latin typeface="Nimbus Sans"/>
                  <a:ea typeface="Nimbus Sans"/>
                  <a:cs typeface="Nimbus Sans"/>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AEC0CD"/>
                </a:solidFill>
                <a:latin typeface="Nimbus Sans"/>
                <a:ea typeface="Nimbus Sans"/>
                <a:cs typeface="Nimbus Sans"/>
              </a:defRPr>
            </a:pPr>
          </a:p>
        </c:txPr>
        <c:crossAx val="48672768"/>
      </c:catAx>
      <c:valAx>
        <c:axId val="48672768"/>
        <c:scaling>
          <c:orientation val="minMax"/>
          <c:max val="1"/>
          <c:min val="0"/>
        </c:scaling>
        <c:delete val="0"/>
        <c:axPos val="b"/>
        <c:majorGridlines>
          <c:spPr>
            <a:ln xmlns:a="http://schemas.openxmlformats.org/drawingml/2006/main" w="9525">
              <a:solidFill>
                <a:srgbClr val="263B49"/>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AEC0CD"/>
                </a:solidFill>
                <a:latin typeface="Nimbus Sans"/>
                <a:ea typeface="Nimbus Sans"/>
                <a:cs typeface="Nimbus Sans"/>
              </a:defRPr>
            </a:pPr>
          </a:p>
        </c:txPr>
        <c:crossAx val="48650112"/>
        <c:crossBetween val="between"/>
        <c:majorUnit val="0.2"/>
      </c:valAx>
      <c:spPr>
        <a:solidFill xmlns:a="http://schemas.openxmlformats.org/drawingml/2006/main">
          <a:srgbClr val="081620"/>
        </a:solidFill>
        <a:ln xmlns:a="http://schemas.openxmlformats.org/drawingml/2006/main" w="0">
          <a:noFill/>
        </a:ln>
      </c:spPr>
    </c:plotArea>
    <c:plotVisOnly val="1"/>
  </c:chart>
  <c:spPr>
    <a:solidFill xmlns:a="http://schemas.openxmlformats.org/drawingml/2006/main">
      <a:srgbClr val="081620"/>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8162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32E8299-4199-4A6B-9173-33017C116AFB}"/>
              </a:ext>
            </a:extLst>
          </p:cNvPr>
          <p:cNvPicPr>
            <a:picLocks xmlns:a="http://schemas.openxmlformats.org/drawingml/2006/main" noChangeAspect="1"/>
          </p:cNvPicPr>
          <p:nvPr/>
        </p:nvPicPr>
        <p:blipFill>
          <a:blip xmlns:r="http://schemas.openxmlformats.org/officeDocument/2006/relationships" xmlns:a="http://schemas.openxmlformats.org/drawingml/2006/main" r:embed="R35cfa5c17790439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AII BBA   SEMESTER 3">
            <a:extLst xmlns:a="http://schemas.openxmlformats.org/drawingml/2006/main">
              <a:ext uri="{FF2B5EF4-FFF2-40B4-BE49-F238E27FC236}">
                <a16:creationId xmlns:a16="http://schemas.microsoft.com/office/drawing/2014/main" id="{96634429-9A21-48C3-AEB7-3D2D3CE89881}"/>
              </a:ext>
            </a:extLst>
          </p:cNvPr>
          <p:cNvSpPr>
            <a:spLocks xmlns:a="http://schemas.openxmlformats.org/drawingml/2006/main" noGrp="1"/>
          </p:cNvSpPr>
          <p:nvPr/>
        </p:nvSpPr>
        <p:spPr>
          <a:xfrm xmlns:a="http://schemas.openxmlformats.org/drawingml/2006/main">
            <a:off x="609600" y="6477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E4BC79"/>
                </a:solidFill>
                <a:latin typeface="Nimbus Sans"/>
                <a:ea typeface="Nimbus Sans"/>
                <a:cs typeface="Nimbus Sans"/>
              </a:defRPr>
            </a:defPPr>
          </a:lstStyle>
          <a:p xmlns:a="http://schemas.openxmlformats.org/drawingml/2006/main">
            <a:pPr algn="l">
              <a:lnSpc>
                <a:spcPct val="112000"/>
              </a:lnSpc>
              <a:buNone/>
              <a:defRPr sz="1500" b="1">
                <a:solidFill>
                  <a:srgbClr val="E4BC79"/>
                </a:solidFill>
                <a:latin typeface="Nimbus Sans"/>
                <a:ea typeface="Nimbus Sans"/>
                <a:cs typeface="Nimbus Sans"/>
              </a:defRPr>
            </a:pPr>
            <a:r>
              <a:rPr sz="1500" b="1">
                <a:solidFill>
                  <a:srgbClr val="E4BC79"/>
                </a:solidFill>
                <a:latin typeface="Nimbus Sans"/>
                <a:ea typeface="Nimbus Sans"/>
                <a:cs typeface="Nimbus Sans"/>
              </a:rPr>
              <a:t>SAII BBA   SEMESTER 3</a:t>
            </a:r>
          </a:p>
        </p:txBody>
      </p:sp>
      <p:sp>
        <p:nvSpPr>
          <p:cNvPr id="3" name="cover-title">
            <a:extLst xmlns:a="http://schemas.openxmlformats.org/drawingml/2006/main">
              <a:ext uri="{FF2B5EF4-FFF2-40B4-BE49-F238E27FC236}">
                <a16:creationId xmlns:a16="http://schemas.microsoft.com/office/drawing/2014/main" id="{B5447F1B-E483-42B5-A7A0-E1A527D0B4AB}"/>
              </a:ext>
            </a:extLst>
          </p:cNvPr>
          <p:cNvSpPr>
            <a:spLocks xmlns:a="http://schemas.openxmlformats.org/drawingml/2006/main" noGrp="1"/>
          </p:cNvSpPr>
          <p:nvPr/>
        </p:nvSpPr>
        <p:spPr>
          <a:xfrm xmlns:a="http://schemas.openxmlformats.org/drawingml/2006/main">
            <a:off x="609600" y="1695450"/>
            <a:ext cx="7429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2F6F8"/>
                </a:solidFill>
                <a:latin typeface="Nimbus Sans"/>
                <a:ea typeface="Nimbus Sans"/>
                <a:cs typeface="Nimbus Sans"/>
              </a:defRPr>
            </a:defPPr>
          </a:lstStyle>
          <a:p xmlns:a="http://schemas.openxmlformats.org/drawingml/2006/main">
            <a:pPr algn="l">
              <a:lnSpc>
                <a:spcPct val="112000"/>
              </a:lnSpc>
              <a:buNone/>
              <a:defRPr sz="4050" b="1">
                <a:solidFill>
                  <a:srgbClr val="F2F6F8"/>
                </a:solidFill>
                <a:latin typeface="Nimbus Sans"/>
                <a:ea typeface="Nimbus Sans"/>
                <a:cs typeface="Nimbus Sans"/>
              </a:defRPr>
            </a:pPr>
            <a:r>
              <a:rPr sz="4050" b="1">
                <a:solidFill>
                  <a:srgbClr val="F2F6F8"/>
                </a:solidFill>
                <a:latin typeface="Nimbus Sans"/>
                <a:ea typeface="Nimbus Sans"/>
                <a:cs typeface="Nimbus Sans"/>
              </a:rPr>
              <a:t>Automated Financial</a:t>
            </a:r>
          </a:p>
          <a:p xmlns:a="http://schemas.openxmlformats.org/drawingml/2006/main">
            <a:pPr algn="l">
              <a:lnSpc>
                <a:spcPct val="112000"/>
              </a:lnSpc>
              <a:buNone/>
              <a:defRPr sz="4050" b="1">
                <a:solidFill>
                  <a:srgbClr val="F2F6F8"/>
                </a:solidFill>
                <a:latin typeface="Nimbus Sans"/>
                <a:ea typeface="Nimbus Sans"/>
                <a:cs typeface="Nimbus Sans"/>
              </a:defRPr>
            </a:pPr>
            <a:r>
              <a:rPr sz="4050" b="1">
                <a:solidFill>
                  <a:srgbClr val="F2F6F8"/>
                </a:solidFill>
                <a:latin typeface="Nimbus Sans"/>
                <a:ea typeface="Nimbus Sans"/>
                <a:cs typeface="Nimbus Sans"/>
              </a:rPr>
              <a:t>Customer Complaint</a:t>
            </a:r>
          </a:p>
          <a:p xmlns:a="http://schemas.openxmlformats.org/drawingml/2006/main">
            <a:pPr algn="l">
              <a:lnSpc>
                <a:spcPct val="112000"/>
              </a:lnSpc>
              <a:buNone/>
              <a:defRPr sz="4050" b="1">
                <a:solidFill>
                  <a:srgbClr val="F2F6F8"/>
                </a:solidFill>
                <a:latin typeface="Nimbus Sans"/>
                <a:ea typeface="Nimbus Sans"/>
                <a:cs typeface="Nimbus Sans"/>
              </a:defRPr>
            </a:pPr>
            <a:r>
              <a:rPr sz="4050" b="1">
                <a:solidFill>
                  <a:srgbClr val="F2F6F8"/>
                </a:solidFill>
                <a:latin typeface="Nimbus Sans"/>
                <a:ea typeface="Nimbus Sans"/>
                <a:cs typeface="Nimbus Sans"/>
              </a:rPr>
              <a:t>Classification</a:t>
            </a:r>
          </a:p>
        </p:txBody>
      </p:sp>
      <p:sp>
        <p:nvSpPr>
          <p:cNvPr id="4" name="Natural language processing project">
            <a:extLst xmlns:a="http://schemas.openxmlformats.org/drawingml/2006/main">
              <a:ext uri="{FF2B5EF4-FFF2-40B4-BE49-F238E27FC236}">
                <a16:creationId xmlns:a16="http://schemas.microsoft.com/office/drawing/2014/main" id="{B7165534-BC9F-48DF-B674-E1601B28A8A5}"/>
              </a:ext>
            </a:extLst>
          </p:cNvPr>
          <p:cNvSpPr>
            <a:spLocks xmlns:a="http://schemas.openxmlformats.org/drawingml/2006/main" noGrp="1"/>
          </p:cNvSpPr>
          <p:nvPr/>
        </p:nvSpPr>
        <p:spPr>
          <a:xfrm xmlns:a="http://schemas.openxmlformats.org/drawingml/2006/main">
            <a:off x="609600" y="3933825"/>
            <a:ext cx="704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2CCB9"/>
                </a:solidFill>
                <a:latin typeface="Nimbus Sans"/>
                <a:ea typeface="Nimbus Sans"/>
                <a:cs typeface="Nimbus Sans"/>
              </a:defRPr>
            </a:defPPr>
          </a:lstStyle>
          <a:p xmlns:a="http://schemas.openxmlformats.org/drawingml/2006/main">
            <a:pPr algn="l">
              <a:lnSpc>
                <a:spcPct val="112000"/>
              </a:lnSpc>
              <a:buNone/>
              <a:defRPr sz="2100" b="0">
                <a:solidFill>
                  <a:srgbClr val="42CCB9"/>
                </a:solidFill>
                <a:latin typeface="Nimbus Sans"/>
                <a:ea typeface="Nimbus Sans"/>
                <a:cs typeface="Nimbus Sans"/>
              </a:defRPr>
            </a:pPr>
            <a:r>
              <a:rPr sz="2100" b="0">
                <a:solidFill>
                  <a:srgbClr val="42CCB9"/>
                </a:solidFill>
                <a:latin typeface="Nimbus Sans"/>
                <a:ea typeface="Nimbus Sans"/>
                <a:cs typeface="Nimbus Sans"/>
              </a:rPr>
              <a:t>Natural language processing project</a:t>
            </a:r>
          </a:p>
        </p:txBody>
      </p:sp>
      <p:sp>
        <p:nvSpPr>
          <p:cNvPr id="5" name="Shorya Jaiswal, Namir Al Balushi&#10;Abdullah Al ">
            <a:extLst xmlns:a="http://schemas.openxmlformats.org/drawingml/2006/main">
              <a:ext uri="{FF2B5EF4-FFF2-40B4-BE49-F238E27FC236}">
                <a16:creationId xmlns:a16="http://schemas.microsoft.com/office/drawing/2014/main" id="{3F91E313-D44D-45D0-B457-687B3F8AB90A}"/>
              </a:ext>
            </a:extLst>
          </p:cNvPr>
          <p:cNvSpPr>
            <a:spLocks xmlns:a="http://schemas.openxmlformats.org/drawingml/2006/main" noGrp="1"/>
          </p:cNvSpPr>
          <p:nvPr/>
        </p:nvSpPr>
        <p:spPr>
          <a:xfrm xmlns:a="http://schemas.openxmlformats.org/drawingml/2006/main">
            <a:off x="609600" y="4819650"/>
            <a:ext cx="742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2F6F8"/>
                </a:solidFill>
                <a:latin typeface="Nimbus Sans"/>
                <a:ea typeface="Nimbus Sans"/>
                <a:cs typeface="Nimbus Sans"/>
              </a:defRPr>
            </a:defPPr>
          </a:lstStyle>
          <a:p xmlns:a="http://schemas.openxmlformats.org/drawingml/2006/main">
            <a:pPr algn="l">
              <a:lnSpc>
                <a:spcPct val="112000"/>
              </a:lnSpc>
              <a:buNone/>
              <a:defRPr sz="1800" b="0">
                <a:solidFill>
                  <a:srgbClr val="F2F6F8"/>
                </a:solidFill>
                <a:latin typeface="Nimbus Sans"/>
                <a:ea typeface="Nimbus Sans"/>
                <a:cs typeface="Nimbus Sans"/>
              </a:defRPr>
            </a:pPr>
            <a:r>
              <a:rPr sz="1800" b="0">
                <a:solidFill>
                  <a:srgbClr val="F2F6F8"/>
                </a:solidFill>
                <a:latin typeface="Nimbus Sans"/>
                <a:ea typeface="Nimbus Sans"/>
                <a:cs typeface="Nimbus Sans"/>
              </a:rPr>
              <a:t>Shorya Jaiswal, Namir Al Balushi</a:t>
            </a:r>
          </a:p>
          <a:p xmlns:a="http://schemas.openxmlformats.org/drawingml/2006/main">
            <a:pPr algn="l">
              <a:lnSpc>
                <a:spcPct val="112000"/>
              </a:lnSpc>
              <a:buNone/>
              <a:defRPr sz="1800" b="0">
                <a:solidFill>
                  <a:srgbClr val="F2F6F8"/>
                </a:solidFill>
                <a:latin typeface="Nimbus Sans"/>
                <a:ea typeface="Nimbus Sans"/>
                <a:cs typeface="Nimbus Sans"/>
              </a:defRPr>
            </a:pPr>
            <a:r>
              <a:rPr sz="1800" b="0">
                <a:solidFill>
                  <a:srgbClr val="F2F6F8"/>
                </a:solidFill>
                <a:latin typeface="Nimbus Sans"/>
                <a:ea typeface="Nimbus Sans"/>
                <a:cs typeface="Nimbus Sans"/>
              </a:rPr>
              <a:t>Abdullah Al Hinai and Yousuf Altom</a:t>
            </a:r>
          </a:p>
        </p:txBody>
      </p:sp>
      <p:sp>
        <p:nvSpPr>
          <p:cNvPr id="6" name="Faculty guide: Nabanita Choudhury&#10;9 October 2">
            <a:extLst xmlns:a="http://schemas.openxmlformats.org/drawingml/2006/main">
              <a:ext uri="{FF2B5EF4-FFF2-40B4-BE49-F238E27FC236}">
                <a16:creationId xmlns:a16="http://schemas.microsoft.com/office/drawing/2014/main" id="{B9179D19-532E-427D-8D7A-76846321ABED}"/>
              </a:ext>
            </a:extLst>
          </p:cNvPr>
          <p:cNvSpPr>
            <a:spLocks xmlns:a="http://schemas.openxmlformats.org/drawingml/2006/main" noGrp="1"/>
          </p:cNvSpPr>
          <p:nvPr/>
        </p:nvSpPr>
        <p:spPr>
          <a:xfrm xmlns:a="http://schemas.openxmlformats.org/drawingml/2006/main">
            <a:off x="609600" y="5915025"/>
            <a:ext cx="742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C0CD"/>
                </a:solidFill>
                <a:latin typeface="Nimbus Sans"/>
                <a:ea typeface="Nimbus Sans"/>
                <a:cs typeface="Nimbus Sans"/>
              </a:defRPr>
            </a:defPPr>
          </a:lstStyle>
          <a:p xmlns:a="http://schemas.openxmlformats.org/drawingml/2006/main">
            <a:pPr algn="l">
              <a:lnSpc>
                <a:spcPct val="112000"/>
              </a:lnSpc>
              <a:buNone/>
              <a:defRPr sz="1500" b="0">
                <a:solidFill>
                  <a:srgbClr val="AEC0CD"/>
                </a:solidFill>
                <a:latin typeface="Nimbus Sans"/>
                <a:ea typeface="Nimbus Sans"/>
                <a:cs typeface="Nimbus Sans"/>
              </a:defRPr>
            </a:pPr>
            <a:r>
              <a:rPr sz="1500" b="0">
                <a:solidFill>
                  <a:srgbClr val="AEC0CD"/>
                </a:solidFill>
                <a:latin typeface="Nimbus Sans"/>
                <a:ea typeface="Nimbus Sans"/>
                <a:cs typeface="Nimbus Sans"/>
              </a:rPr>
              <a:t>Faculty guide: Nabanita Choudhury</a:t>
            </a:r>
          </a:p>
          <a:p xmlns:a="http://schemas.openxmlformats.org/drawingml/2006/main">
            <a:pPr algn="l">
              <a:lnSpc>
                <a:spcPct val="112000"/>
              </a:lnSpc>
              <a:buNone/>
              <a:defRPr sz="1500" b="0">
                <a:solidFill>
                  <a:srgbClr val="AEC0CD"/>
                </a:solidFill>
                <a:latin typeface="Nimbus Sans"/>
                <a:ea typeface="Nimbus Sans"/>
                <a:cs typeface="Nimbus Sans"/>
              </a:defRPr>
            </a:pPr>
            <a:r>
              <a:rPr sz="1500" b="0">
                <a:solidFill>
                  <a:srgbClr val="AEC0CD"/>
                </a:solidFill>
                <a:latin typeface="Nimbus Sans"/>
                <a:ea typeface="Nimbus Sans"/>
                <a:cs typeface="Nimbus Sans"/>
              </a:rPr>
              <a:t>9 October 2026</a:t>
            </a:r>
          </a:p>
        </p:txBody>
      </p:sp>
      <p:sp>
        <p:nvSpPr>
          <p:cNvPr id="7" name="01 / 10">
            <a:extLst xmlns:a="http://schemas.openxmlformats.org/drawingml/2006/main">
              <a:ext uri="{FF2B5EF4-FFF2-40B4-BE49-F238E27FC236}">
                <a16:creationId xmlns:a16="http://schemas.microsoft.com/office/drawing/2014/main" id="{F5815F0A-E3C1-4EC7-B014-BAE8072F1F62}"/>
              </a:ext>
            </a:extLst>
          </p:cNvPr>
          <p:cNvSpPr>
            <a:spLocks xmlns:a="http://schemas.openxmlformats.org/drawingml/2006/main" noGrp="1"/>
          </p:cNvSpPr>
          <p:nvPr/>
        </p:nvSpPr>
        <p:spPr>
          <a:xfrm xmlns:a="http://schemas.openxmlformats.org/drawingml/2006/main">
            <a:off x="10668000" y="64008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D"/>
                </a:solidFill>
                <a:latin typeface="Nimbus Sans"/>
                <a:ea typeface="Nimbus Sans"/>
                <a:cs typeface="Nimbus Sans"/>
              </a:defRPr>
            </a:defPPr>
          </a:lstStyle>
          <a:p xmlns:a="http://schemas.openxmlformats.org/drawingml/2006/main">
            <a:pPr algn="r">
              <a:lnSpc>
                <a:spcPct val="112000"/>
              </a:lnSpc>
              <a:buNone/>
              <a:defRPr sz="1350" b="0">
                <a:solidFill>
                  <a:srgbClr val="AEC0CD"/>
                </a:solidFill>
                <a:latin typeface="Nimbus Sans"/>
                <a:ea typeface="Nimbus Sans"/>
                <a:cs typeface="Nimbus Sans"/>
              </a:defRPr>
            </a:pPr>
            <a:r>
              <a:rPr sz="1350" b="0">
                <a:solidFill>
                  <a:srgbClr val="AEC0CD"/>
                </a:solidFill>
                <a:latin typeface="Nimbus Sans"/>
                <a:ea typeface="Nimbus Sans"/>
                <a:cs typeface="Nimbus Sans"/>
              </a:rPr>
              <a:t>01 / 10</a:t>
            </a:r>
          </a:p>
        </p:txBody>
      </p:sp>
    </p:spTree>
    <p:extLst>
      <p:ext uri="{BB962C8B-B14F-4D97-AF65-F5344CB8AC3E}">
        <p14:creationId xmlns:p14="http://schemas.microsoft.com/office/powerpoint/2010/main" val="286350677"/>
      </p:ext>
    </p:extLst>
  </p:cSld>
</p:sld>
</file>

<file path=ppt/slides/slide2.xml><?xml version="1.0" encoding="utf-8"?>
<p:sld xmlns:p="http://schemas.openxmlformats.org/presentationml/2006/main">
  <p:cSld>
    <p:bg>
      <p:bgPr>
        <a:solidFill xmlns:a="http://schemas.openxmlformats.org/drawingml/2006/main">
          <a:srgbClr val="08162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FDEE5D98-A615-44FE-BC55-3715605B296E}"/>
              </a:ext>
            </a:extLst>
          </p:cNvPr>
          <p:cNvSpPr>
            <a:spLocks xmlns:a="http://schemas.openxmlformats.org/drawingml/2006/main" noGrp="1"/>
          </p:cNvSpPr>
          <p:nvPr/>
        </p:nvSpPr>
        <p:spPr>
          <a:xfrm xmlns:a="http://schemas.openxmlformats.org/drawingml/2006/main">
            <a:off x="609600" y="5524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2F6F8"/>
                </a:solidFill>
                <a:latin typeface="Nimbus Sans"/>
                <a:ea typeface="Nimbus Sans"/>
                <a:cs typeface="Nimbus Sans"/>
              </a:defRPr>
            </a:defPPr>
          </a:lstStyle>
          <a:p xmlns:a="http://schemas.openxmlformats.org/drawingml/2006/main">
            <a:pPr algn="l">
              <a:lnSpc>
                <a:spcPct val="112000"/>
              </a:lnSpc>
              <a:buNone/>
              <a:defRPr sz="3150" b="1">
                <a:solidFill>
                  <a:srgbClr val="F2F6F8"/>
                </a:solidFill>
                <a:latin typeface="Nimbus Sans"/>
                <a:ea typeface="Nimbus Sans"/>
                <a:cs typeface="Nimbus Sans"/>
              </a:defRPr>
            </a:pPr>
            <a:r>
              <a:rPr sz="3150" b="1">
                <a:solidFill>
                  <a:srgbClr val="F2F6F8"/>
                </a:solidFill>
                <a:latin typeface="Nimbus Sans"/>
                <a:ea typeface="Nimbus Sans"/>
                <a:cs typeface="Nimbus Sans"/>
              </a:rPr>
              <a:t>The complaint routing problem</a:t>
            </a:r>
          </a:p>
        </p:txBody>
      </p:sp>
      <p:sp>
        <p:nvSpPr>
          <p:cNvPr id="2" name="slide-number">
            <a:extLst xmlns:a="http://schemas.openxmlformats.org/drawingml/2006/main">
              <a:ext uri="{FF2B5EF4-FFF2-40B4-BE49-F238E27FC236}">
                <a16:creationId xmlns:a16="http://schemas.microsoft.com/office/drawing/2014/main" id="{AC3370C4-1B3E-49B7-AB0B-62714BBFBF9C}"/>
              </a:ext>
            </a:extLst>
          </p:cNvPr>
          <p:cNvSpPr>
            <a:spLocks xmlns:a="http://schemas.openxmlformats.org/drawingml/2006/main" noGrp="1"/>
          </p:cNvSpPr>
          <p:nvPr/>
        </p:nvSpPr>
        <p:spPr>
          <a:xfrm xmlns:a="http://schemas.openxmlformats.org/drawingml/2006/main">
            <a:off x="10668000" y="64008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D"/>
                </a:solidFill>
                <a:latin typeface="Nimbus Sans"/>
                <a:ea typeface="Nimbus Sans"/>
                <a:cs typeface="Nimbus Sans"/>
              </a:defRPr>
            </a:defPPr>
          </a:lstStyle>
          <a:p xmlns:a="http://schemas.openxmlformats.org/drawingml/2006/main">
            <a:pPr algn="r">
              <a:lnSpc>
                <a:spcPct val="112000"/>
              </a:lnSpc>
              <a:buNone/>
              <a:defRPr sz="1350" b="0">
                <a:solidFill>
                  <a:srgbClr val="AEC0CD"/>
                </a:solidFill>
                <a:latin typeface="Nimbus Sans"/>
                <a:ea typeface="Nimbus Sans"/>
                <a:cs typeface="Nimbus Sans"/>
              </a:defRPr>
            </a:pPr>
            <a:r>
              <a:rPr sz="1350" b="0">
                <a:solidFill>
                  <a:srgbClr val="AEC0CD"/>
                </a:solidFill>
                <a:latin typeface="Nimbus Sans"/>
                <a:ea typeface="Nimbus Sans"/>
                <a:cs typeface="Nimbus Sans"/>
              </a:rPr>
              <a:t>02 / 10</a:t>
            </a:r>
          </a:p>
        </p:txBody>
      </p:sp>
      <p:sp>
        <p:nvSpPr>
          <p:cNvPr id="3" name="Free-text complaints take time to read and ro">
            <a:extLst xmlns:a="http://schemas.openxmlformats.org/drawingml/2006/main">
              <a:ext uri="{FF2B5EF4-FFF2-40B4-BE49-F238E27FC236}">
                <a16:creationId xmlns:a16="http://schemas.microsoft.com/office/drawing/2014/main" id="{12F72A75-E8CC-4C47-A14C-15C44AFF8A47}"/>
              </a:ext>
            </a:extLst>
          </p:cNvPr>
          <p:cNvSpPr>
            <a:spLocks xmlns:a="http://schemas.openxmlformats.org/drawingml/2006/main" noGrp="1"/>
          </p:cNvSpPr>
          <p:nvPr/>
        </p:nvSpPr>
        <p:spPr>
          <a:xfrm xmlns:a="http://schemas.openxmlformats.org/drawingml/2006/main">
            <a:off x="609600" y="14382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AEC0CD"/>
                </a:solidFill>
                <a:latin typeface="Nimbus Sans"/>
                <a:ea typeface="Nimbus Sans"/>
                <a:cs typeface="Nimbus Sans"/>
              </a:defRPr>
            </a:defPPr>
          </a:lstStyle>
          <a:p xmlns:a="http://schemas.openxmlformats.org/drawingml/2006/main">
            <a:pPr algn="l">
              <a:lnSpc>
                <a:spcPct val="112000"/>
              </a:lnSpc>
              <a:buNone/>
              <a:defRPr sz="2400" b="0">
                <a:solidFill>
                  <a:srgbClr val="AEC0CD"/>
                </a:solidFill>
                <a:latin typeface="Nimbus Sans"/>
                <a:ea typeface="Nimbus Sans"/>
                <a:cs typeface="Nimbus Sans"/>
              </a:defRPr>
            </a:pPr>
            <a:r>
              <a:rPr sz="2400" b="0">
                <a:solidFill>
                  <a:srgbClr val="AEC0CD"/>
                </a:solidFill>
                <a:latin typeface="Nimbus Sans"/>
                <a:ea typeface="Nimbus Sans"/>
                <a:cs typeface="Nimbus Sans"/>
              </a:rPr>
              <a:t>Free-text complaints take time to read and route.</a:t>
            </a:r>
          </a:p>
        </p:txBody>
      </p:sp>
      <p:sp>
        <p:nvSpPr>
          <p:cNvPr id="4" name="CUSTOMER TEXT">
            <a:extLst xmlns:a="http://schemas.openxmlformats.org/drawingml/2006/main">
              <a:ext uri="{FF2B5EF4-FFF2-40B4-BE49-F238E27FC236}">
                <a16:creationId xmlns:a16="http://schemas.microsoft.com/office/drawing/2014/main" id="{AC3652CE-D90A-46AC-84EA-44B32EF6A37A}"/>
              </a:ext>
            </a:extLst>
          </p:cNvPr>
          <p:cNvSpPr>
            <a:spLocks xmlns:a="http://schemas.openxmlformats.org/drawingml/2006/main" noGrp="1"/>
          </p:cNvSpPr>
          <p:nvPr/>
        </p:nvSpPr>
        <p:spPr>
          <a:xfrm xmlns:a="http://schemas.openxmlformats.org/drawingml/2006/main">
            <a:off x="609600" y="260032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E4BC79"/>
                </a:solidFill>
                <a:latin typeface="Nimbus Sans"/>
                <a:ea typeface="Nimbus Sans"/>
                <a:cs typeface="Nimbus Sans"/>
              </a:defRPr>
            </a:defPPr>
          </a:lstStyle>
          <a:p xmlns:a="http://schemas.openxmlformats.org/drawingml/2006/main">
            <a:pPr algn="l">
              <a:lnSpc>
                <a:spcPct val="112000"/>
              </a:lnSpc>
              <a:buNone/>
              <a:defRPr sz="1500" b="1">
                <a:solidFill>
                  <a:srgbClr val="E4BC79"/>
                </a:solidFill>
                <a:latin typeface="Nimbus Sans"/>
                <a:ea typeface="Nimbus Sans"/>
                <a:cs typeface="Nimbus Sans"/>
              </a:defRPr>
            </a:pPr>
            <a:r>
              <a:rPr sz="1500" b="1">
                <a:solidFill>
                  <a:srgbClr val="E4BC79"/>
                </a:solidFill>
                <a:latin typeface="Nimbus Sans"/>
                <a:ea typeface="Nimbus Sans"/>
                <a:cs typeface="Nimbus Sans"/>
              </a:rPr>
              <a:t>CUSTOMER TEXT</a:t>
            </a:r>
          </a:p>
        </p:txBody>
      </p:sp>
      <p:sp>
        <p:nvSpPr>
          <p:cNvPr id="5" name="“My mortgage servicer applied my&#10;payment inco">
            <a:extLst xmlns:a="http://schemas.openxmlformats.org/drawingml/2006/main">
              <a:ext uri="{FF2B5EF4-FFF2-40B4-BE49-F238E27FC236}">
                <a16:creationId xmlns:a16="http://schemas.microsoft.com/office/drawing/2014/main" id="{D56CD0EF-7242-4C9C-BEB4-05309D630F00}"/>
              </a:ext>
            </a:extLst>
          </p:cNvPr>
          <p:cNvSpPr>
            <a:spLocks xmlns:a="http://schemas.openxmlformats.org/drawingml/2006/main" noGrp="1"/>
          </p:cNvSpPr>
          <p:nvPr/>
        </p:nvSpPr>
        <p:spPr>
          <a:xfrm xmlns:a="http://schemas.openxmlformats.org/drawingml/2006/main">
            <a:off x="609600" y="3124200"/>
            <a:ext cx="69151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F2F6F8"/>
                </a:solidFill>
                <a:latin typeface="Nimbus Sans"/>
                <a:ea typeface="Nimbus Sans"/>
                <a:cs typeface="Nimbus Sans"/>
              </a:defRPr>
            </a:defPPr>
          </a:lstStyle>
          <a:p xmlns:a="http://schemas.openxmlformats.org/drawingml/2006/main">
            <a:pPr algn="l">
              <a:lnSpc>
                <a:spcPct val="112000"/>
              </a:lnSpc>
              <a:buNone/>
              <a:defRPr sz="2850" b="0">
                <a:solidFill>
                  <a:srgbClr val="F2F6F8"/>
                </a:solidFill>
                <a:latin typeface="Nimbus Sans"/>
                <a:ea typeface="Nimbus Sans"/>
                <a:cs typeface="Nimbus Sans"/>
              </a:defRPr>
            </a:pPr>
            <a:r>
              <a:rPr sz="2850" b="0">
                <a:solidFill>
                  <a:srgbClr val="F2F6F8"/>
                </a:solidFill>
                <a:latin typeface="Nimbus Sans"/>
                <a:ea typeface="Nimbus Sans"/>
                <a:cs typeface="Nimbus Sans"/>
              </a:rPr>
              <a:t>“My mortgage servicer applied my</a:t>
            </a:r>
          </a:p>
          <a:p xmlns:a="http://schemas.openxmlformats.org/drawingml/2006/main">
            <a:pPr algn="l">
              <a:lnSpc>
                <a:spcPct val="112000"/>
              </a:lnSpc>
              <a:buNone/>
              <a:defRPr sz="2850" b="0">
                <a:solidFill>
                  <a:srgbClr val="F2F6F8"/>
                </a:solidFill>
                <a:latin typeface="Nimbus Sans"/>
                <a:ea typeface="Nimbus Sans"/>
                <a:cs typeface="Nimbus Sans"/>
              </a:defRPr>
            </a:pPr>
            <a:r>
              <a:rPr sz="2850" b="0">
                <a:solidFill>
                  <a:srgbClr val="F2F6F8"/>
                </a:solidFill>
                <a:latin typeface="Nimbus Sans"/>
                <a:ea typeface="Nimbus Sans"/>
                <a:cs typeface="Nimbus Sans"/>
              </a:rPr>
              <a:t>payment incorrectly and charged</a:t>
            </a:r>
          </a:p>
          <a:p xmlns:a="http://schemas.openxmlformats.org/drawingml/2006/main">
            <a:pPr algn="l">
              <a:lnSpc>
                <a:spcPct val="112000"/>
              </a:lnSpc>
              <a:buNone/>
              <a:defRPr sz="2850" b="0">
                <a:solidFill>
                  <a:srgbClr val="F2F6F8"/>
                </a:solidFill>
                <a:latin typeface="Nimbus Sans"/>
                <a:ea typeface="Nimbus Sans"/>
                <a:cs typeface="Nimbus Sans"/>
              </a:defRPr>
            </a:pPr>
            <a:r>
              <a:rPr sz="2850" b="0">
                <a:solidFill>
                  <a:srgbClr val="F2F6F8"/>
                </a:solidFill>
                <a:latin typeface="Nimbus Sans"/>
                <a:ea typeface="Nimbus Sans"/>
                <a:cs typeface="Nimbus Sans"/>
              </a:rPr>
              <a:t>a late fee.”</a:t>
            </a:r>
          </a:p>
        </p:txBody>
      </p:sp>
      <p:sp>
        <p:nvSpPr>
          <p:cNvPr id="6" name="SUGGESTED PRODUCT">
            <a:extLst xmlns:a="http://schemas.openxmlformats.org/drawingml/2006/main">
              <a:ext uri="{FF2B5EF4-FFF2-40B4-BE49-F238E27FC236}">
                <a16:creationId xmlns:a16="http://schemas.microsoft.com/office/drawing/2014/main" id="{17D397D7-6297-4944-84D3-94A5D67C326B}"/>
              </a:ext>
            </a:extLst>
          </p:cNvPr>
          <p:cNvSpPr>
            <a:spLocks xmlns:a="http://schemas.openxmlformats.org/drawingml/2006/main" noGrp="1"/>
          </p:cNvSpPr>
          <p:nvPr/>
        </p:nvSpPr>
        <p:spPr>
          <a:xfrm xmlns:a="http://schemas.openxmlformats.org/drawingml/2006/main">
            <a:off x="8191500" y="2600325"/>
            <a:ext cx="3390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E4BC79"/>
                </a:solidFill>
                <a:latin typeface="Nimbus Sans"/>
                <a:ea typeface="Nimbus Sans"/>
                <a:cs typeface="Nimbus Sans"/>
              </a:defRPr>
            </a:defPPr>
          </a:lstStyle>
          <a:p xmlns:a="http://schemas.openxmlformats.org/drawingml/2006/main">
            <a:pPr algn="l">
              <a:lnSpc>
                <a:spcPct val="112000"/>
              </a:lnSpc>
              <a:buNone/>
              <a:defRPr sz="1500" b="1">
                <a:solidFill>
                  <a:srgbClr val="E4BC79"/>
                </a:solidFill>
                <a:latin typeface="Nimbus Sans"/>
                <a:ea typeface="Nimbus Sans"/>
                <a:cs typeface="Nimbus Sans"/>
              </a:defRPr>
            </a:pPr>
            <a:r>
              <a:rPr sz="1500" b="1">
                <a:solidFill>
                  <a:srgbClr val="E4BC79"/>
                </a:solidFill>
                <a:latin typeface="Nimbus Sans"/>
                <a:ea typeface="Nimbus Sans"/>
                <a:cs typeface="Nimbus Sans"/>
              </a:rPr>
              <a:t>SUGGESTED PRODUCT</a:t>
            </a:r>
          </a:p>
        </p:txBody>
      </p:sp>
      <p:sp>
        <p:nvSpPr>
          <p:cNvPr id="7" name="Mortgages">
            <a:extLst xmlns:a="http://schemas.openxmlformats.org/drawingml/2006/main">
              <a:ext uri="{FF2B5EF4-FFF2-40B4-BE49-F238E27FC236}">
                <a16:creationId xmlns:a16="http://schemas.microsoft.com/office/drawing/2014/main" id="{80D46FE6-B082-4A2A-AAB5-BE319AD50790}"/>
              </a:ext>
            </a:extLst>
          </p:cNvPr>
          <p:cNvSpPr>
            <a:spLocks xmlns:a="http://schemas.openxmlformats.org/drawingml/2006/main" noGrp="1"/>
          </p:cNvSpPr>
          <p:nvPr/>
        </p:nvSpPr>
        <p:spPr>
          <a:xfrm xmlns:a="http://schemas.openxmlformats.org/drawingml/2006/main">
            <a:off x="8191500" y="3181350"/>
            <a:ext cx="3390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42CCB9"/>
                </a:solidFill>
                <a:latin typeface="Nimbus Sans"/>
                <a:ea typeface="Nimbus Sans"/>
                <a:cs typeface="Nimbus Sans"/>
              </a:defRPr>
            </a:defPPr>
          </a:lstStyle>
          <a:p xmlns:a="http://schemas.openxmlformats.org/drawingml/2006/main">
            <a:pPr algn="l">
              <a:lnSpc>
                <a:spcPct val="112000"/>
              </a:lnSpc>
              <a:buNone/>
              <a:defRPr sz="3600" b="1">
                <a:solidFill>
                  <a:srgbClr val="42CCB9"/>
                </a:solidFill>
                <a:latin typeface="Nimbus Sans"/>
                <a:ea typeface="Nimbus Sans"/>
                <a:cs typeface="Nimbus Sans"/>
              </a:defRPr>
            </a:pPr>
            <a:r>
              <a:rPr sz="3600" b="1">
                <a:solidFill>
                  <a:srgbClr val="42CCB9"/>
                </a:solidFill>
                <a:latin typeface="Nimbus Sans"/>
                <a:ea typeface="Nimbus Sans"/>
                <a:cs typeface="Nimbus Sans"/>
              </a:rPr>
              <a:t>Mortgages</a:t>
            </a:r>
          </a:p>
        </p:txBody>
      </p:sp>
      <p:sp>
        <p:nvSpPr>
          <p:cNvPr id="8" name="One of nine retained&#10;product categories">
            <a:extLst xmlns:a="http://schemas.openxmlformats.org/drawingml/2006/main">
              <a:ext uri="{FF2B5EF4-FFF2-40B4-BE49-F238E27FC236}">
                <a16:creationId xmlns:a16="http://schemas.microsoft.com/office/drawing/2014/main" id="{58CE5F49-5866-4CC9-9067-C3ECC5C0A8F6}"/>
              </a:ext>
            </a:extLst>
          </p:cNvPr>
          <p:cNvSpPr>
            <a:spLocks xmlns:a="http://schemas.openxmlformats.org/drawingml/2006/main" noGrp="1"/>
          </p:cNvSpPr>
          <p:nvPr/>
        </p:nvSpPr>
        <p:spPr>
          <a:xfrm xmlns:a="http://schemas.openxmlformats.org/drawingml/2006/main">
            <a:off x="8191500" y="4010025"/>
            <a:ext cx="33909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C0CD"/>
                </a:solidFill>
                <a:latin typeface="Nimbus Sans"/>
                <a:ea typeface="Nimbus Sans"/>
                <a:cs typeface="Nimbus Sans"/>
              </a:defRPr>
            </a:defPPr>
          </a:lstStyle>
          <a:p xmlns:a="http://schemas.openxmlformats.org/drawingml/2006/main">
            <a:pPr algn="l">
              <a:lnSpc>
                <a:spcPct val="112000"/>
              </a:lnSpc>
              <a:buNone/>
              <a:defRPr sz="2025" b="0">
                <a:solidFill>
                  <a:srgbClr val="AEC0CD"/>
                </a:solidFill>
                <a:latin typeface="Nimbus Sans"/>
                <a:ea typeface="Nimbus Sans"/>
                <a:cs typeface="Nimbus Sans"/>
              </a:defRPr>
            </a:pPr>
            <a:r>
              <a:rPr sz="2025" b="0">
                <a:solidFill>
                  <a:srgbClr val="AEC0CD"/>
                </a:solidFill>
                <a:latin typeface="Nimbus Sans"/>
                <a:ea typeface="Nimbus Sans"/>
                <a:cs typeface="Nimbus Sans"/>
              </a:rPr>
              <a:t>One of nine retained</a:t>
            </a:r>
          </a:p>
          <a:p xmlns:a="http://schemas.openxmlformats.org/drawingml/2006/main">
            <a:pPr algn="l">
              <a:lnSpc>
                <a:spcPct val="112000"/>
              </a:lnSpc>
              <a:buNone/>
              <a:defRPr sz="2025" b="0">
                <a:solidFill>
                  <a:srgbClr val="AEC0CD"/>
                </a:solidFill>
                <a:latin typeface="Nimbus Sans"/>
                <a:ea typeface="Nimbus Sans"/>
                <a:cs typeface="Nimbus Sans"/>
              </a:defRPr>
            </a:pPr>
            <a:r>
              <a:rPr sz="2025" b="0">
                <a:solidFill>
                  <a:srgbClr val="AEC0CD"/>
                </a:solidFill>
                <a:latin typeface="Nimbus Sans"/>
                <a:ea typeface="Nimbus Sans"/>
                <a:cs typeface="Nimbus Sans"/>
              </a:rPr>
              <a:t>product categories</a:t>
            </a:r>
          </a:p>
        </p:txBody>
      </p:sp>
      <p:sp>
        <p:nvSpPr>
          <p:cNvPr id="9" name="Goal: suggest the product and explain the inf">
            <a:extLst xmlns:a="http://schemas.openxmlformats.org/drawingml/2006/main">
              <a:ext uri="{FF2B5EF4-FFF2-40B4-BE49-F238E27FC236}">
                <a16:creationId xmlns:a16="http://schemas.microsoft.com/office/drawing/2014/main" id="{BC2904B2-2373-4824-9002-FB6C2A6BC62A}"/>
              </a:ext>
            </a:extLst>
          </p:cNvPr>
          <p:cNvSpPr>
            <a:spLocks xmlns:a="http://schemas.openxmlformats.org/drawingml/2006/main" noGrp="1"/>
          </p:cNvSpPr>
          <p:nvPr/>
        </p:nvSpPr>
        <p:spPr>
          <a:xfrm xmlns:a="http://schemas.openxmlformats.org/drawingml/2006/main">
            <a:off x="609600" y="55149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2F6F8"/>
                </a:solidFill>
                <a:latin typeface="Nimbus Sans"/>
                <a:ea typeface="Nimbus Sans"/>
                <a:cs typeface="Nimbus Sans"/>
              </a:defRPr>
            </a:defPPr>
          </a:lstStyle>
          <a:p xmlns:a="http://schemas.openxmlformats.org/drawingml/2006/main">
            <a:pPr algn="l">
              <a:lnSpc>
                <a:spcPct val="112000"/>
              </a:lnSpc>
              <a:buNone/>
              <a:defRPr sz="2025" b="0">
                <a:solidFill>
                  <a:srgbClr val="F2F6F8"/>
                </a:solidFill>
                <a:latin typeface="Nimbus Sans"/>
                <a:ea typeface="Nimbus Sans"/>
                <a:cs typeface="Nimbus Sans"/>
              </a:defRPr>
            </a:pPr>
            <a:r>
              <a:rPr sz="2025" b="0">
                <a:solidFill>
                  <a:srgbClr val="F2F6F8"/>
                </a:solidFill>
                <a:latin typeface="Nimbus Sans"/>
                <a:ea typeface="Nimbus Sans"/>
                <a:cs typeface="Nimbus Sans"/>
              </a:rPr>
              <a:t>Goal: suggest the product and explain the influential words.</a:t>
            </a:r>
          </a:p>
          <a:p xmlns:a="http://schemas.openxmlformats.org/drawingml/2006/main">
            <a:pPr algn="l">
              <a:lnSpc>
                <a:spcPct val="112000"/>
              </a:lnSpc>
              <a:buNone/>
              <a:defRPr sz="2025" b="0">
                <a:solidFill>
                  <a:srgbClr val="F2F6F8"/>
                </a:solidFill>
                <a:latin typeface="Nimbus Sans"/>
                <a:ea typeface="Nimbus Sans"/>
                <a:cs typeface="Nimbus Sans"/>
              </a:defRPr>
            </a:pPr>
            <a:r>
              <a:rPr sz="2025" b="0">
                <a:solidFill>
                  <a:srgbClr val="F2F6F8"/>
                </a:solidFill>
                <a:latin typeface="Nimbus Sans"/>
                <a:ea typeface="Nimbus Sans"/>
                <a:cs typeface="Nimbus Sans"/>
              </a:rPr>
              <a:t>A human reviewer checks every suggestion.</a:t>
            </a:r>
          </a:p>
        </p:txBody>
      </p:sp>
    </p:spTree>
    <p:extLst>
      <p:ext uri="{BB962C8B-B14F-4D97-AF65-F5344CB8AC3E}">
        <p14:creationId xmlns:p14="http://schemas.microsoft.com/office/powerpoint/2010/main" val="1336786918"/>
      </p:ext>
    </p:extLst>
  </p:cSld>
</p:sld>
</file>

<file path=ppt/slides/slide3.xml><?xml version="1.0" encoding="utf-8"?>
<p:sld xmlns:p="http://schemas.openxmlformats.org/presentationml/2006/main">
  <p:cSld>
    <p:bg>
      <p:bgPr>
        <a:solidFill xmlns:a="http://schemas.openxmlformats.org/drawingml/2006/main">
          <a:srgbClr val="08162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E9B37EC-D7EC-4574-A49C-A1AC743E3CAF}"/>
              </a:ext>
            </a:extLst>
          </p:cNvPr>
          <p:cNvSpPr>
            <a:spLocks xmlns:a="http://schemas.openxmlformats.org/drawingml/2006/main" noGrp="1"/>
          </p:cNvSpPr>
          <p:nvPr/>
        </p:nvSpPr>
        <p:spPr>
          <a:xfrm xmlns:a="http://schemas.openxmlformats.org/drawingml/2006/main">
            <a:off x="609600" y="5524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2F6F8"/>
                </a:solidFill>
                <a:latin typeface="Nimbus Sans"/>
                <a:ea typeface="Nimbus Sans"/>
                <a:cs typeface="Nimbus Sans"/>
              </a:defRPr>
            </a:defPPr>
          </a:lstStyle>
          <a:p xmlns:a="http://schemas.openxmlformats.org/drawingml/2006/main">
            <a:pPr algn="l">
              <a:lnSpc>
                <a:spcPct val="112000"/>
              </a:lnSpc>
              <a:buNone/>
              <a:defRPr sz="3150" b="1">
                <a:solidFill>
                  <a:srgbClr val="F2F6F8"/>
                </a:solidFill>
                <a:latin typeface="Nimbus Sans"/>
                <a:ea typeface="Nimbus Sans"/>
                <a:cs typeface="Nimbus Sans"/>
              </a:defRPr>
            </a:pPr>
            <a:r>
              <a:rPr sz="3150" b="1">
                <a:solidFill>
                  <a:srgbClr val="F2F6F8"/>
                </a:solidFill>
                <a:latin typeface="Nimbus Sans"/>
                <a:ea typeface="Nimbus Sans"/>
                <a:cs typeface="Nimbus Sans"/>
              </a:rPr>
              <a:t>The CFPB dataset and cleaning</a:t>
            </a:r>
          </a:p>
        </p:txBody>
      </p:sp>
      <p:sp>
        <p:nvSpPr>
          <p:cNvPr id="2" name="slide-number">
            <a:extLst xmlns:a="http://schemas.openxmlformats.org/drawingml/2006/main">
              <a:ext uri="{FF2B5EF4-FFF2-40B4-BE49-F238E27FC236}">
                <a16:creationId xmlns:a16="http://schemas.microsoft.com/office/drawing/2014/main" id="{D99CF305-45D3-43D6-A65C-3778C3E44941}"/>
              </a:ext>
            </a:extLst>
          </p:cNvPr>
          <p:cNvSpPr>
            <a:spLocks xmlns:a="http://schemas.openxmlformats.org/drawingml/2006/main" noGrp="1"/>
          </p:cNvSpPr>
          <p:nvPr/>
        </p:nvSpPr>
        <p:spPr>
          <a:xfrm xmlns:a="http://schemas.openxmlformats.org/drawingml/2006/main">
            <a:off x="10668000" y="64008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D"/>
                </a:solidFill>
                <a:latin typeface="Nimbus Sans"/>
                <a:ea typeface="Nimbus Sans"/>
                <a:cs typeface="Nimbus Sans"/>
              </a:defRPr>
            </a:defPPr>
          </a:lstStyle>
          <a:p xmlns:a="http://schemas.openxmlformats.org/drawingml/2006/main">
            <a:pPr algn="r">
              <a:lnSpc>
                <a:spcPct val="112000"/>
              </a:lnSpc>
              <a:buNone/>
              <a:defRPr sz="1350" b="0">
                <a:solidFill>
                  <a:srgbClr val="AEC0CD"/>
                </a:solidFill>
                <a:latin typeface="Nimbus Sans"/>
                <a:ea typeface="Nimbus Sans"/>
                <a:cs typeface="Nimbus Sans"/>
              </a:defRPr>
            </a:pPr>
            <a:r>
              <a:rPr sz="1350" b="0">
                <a:solidFill>
                  <a:srgbClr val="AEC0CD"/>
                </a:solidFill>
                <a:latin typeface="Nimbus Sans"/>
                <a:ea typeface="Nimbus Sans"/>
                <a:cs typeface="Nimbus Sans"/>
              </a:rPr>
              <a:t>03 / 10</a:t>
            </a:r>
          </a:p>
        </p:txBody>
      </p:sp>
      <p:sp>
        <p:nvSpPr>
          <p:cNvPr id="3" name="10,000-record snapshot, received 26 Aug to 4 ">
            <a:extLst xmlns:a="http://schemas.openxmlformats.org/drawingml/2006/main">
              <a:ext uri="{FF2B5EF4-FFF2-40B4-BE49-F238E27FC236}">
                <a16:creationId xmlns:a16="http://schemas.microsoft.com/office/drawing/2014/main" id="{BAA3E5FD-55E3-4D9C-B7A9-BA4ED7E25C45}"/>
              </a:ext>
            </a:extLst>
          </p:cNvPr>
          <p:cNvSpPr>
            <a:spLocks xmlns:a="http://schemas.openxmlformats.org/drawingml/2006/main" noGrp="1"/>
          </p:cNvSpPr>
          <p:nvPr/>
        </p:nvSpPr>
        <p:spPr>
          <a:xfrm xmlns:a="http://schemas.openxmlformats.org/drawingml/2006/main">
            <a:off x="609600" y="13049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EC0CD"/>
                </a:solidFill>
                <a:latin typeface="Nimbus Sans"/>
                <a:ea typeface="Nimbus Sans"/>
                <a:cs typeface="Nimbus Sans"/>
              </a:defRPr>
            </a:defPPr>
          </a:lstStyle>
          <a:p xmlns:a="http://schemas.openxmlformats.org/drawingml/2006/main">
            <a:pPr algn="l">
              <a:lnSpc>
                <a:spcPct val="112000"/>
              </a:lnSpc>
              <a:buNone/>
              <a:defRPr sz="1875" b="0">
                <a:solidFill>
                  <a:srgbClr val="AEC0CD"/>
                </a:solidFill>
                <a:latin typeface="Nimbus Sans"/>
                <a:ea typeface="Nimbus Sans"/>
                <a:cs typeface="Nimbus Sans"/>
              </a:defRPr>
            </a:pPr>
            <a:r>
              <a:rPr sz="1875" b="0">
                <a:solidFill>
                  <a:srgbClr val="AEC0CD"/>
                </a:solidFill>
                <a:latin typeface="Nimbus Sans"/>
                <a:ea typeface="Nimbus Sans"/>
                <a:cs typeface="Nimbus Sans"/>
              </a:rPr>
              <a:t>10,000-record snapshot, received 26 Aug to 4 Sep 2024</a:t>
            </a:r>
          </a:p>
        </p:txBody>
      </p:sp>
      <p:graphicFrame>
        <p:nvGraphicFramePr>
          <p:cNvPr id="4" name="Chart">
            <a:extLst xmlns:a="http://schemas.openxmlformats.org/drawingml/2006/main">
              <a:ext uri="{FF2B5EF4-FFF2-40B4-BE49-F238E27FC236}">
                <a16:creationId xmlns:a16="http://schemas.microsoft.com/office/drawing/2014/main" id="{24A697D5-06F7-4F3B-AF1F-738FEE8B0F9E}"/>
              </a:ext>
            </a:extLst>
          </p:cNvPr>
          <p:cNvGraphicFramePr/>
          <p:nvPr/>
        </p:nvGraphicFramePr>
        <p:xfrm>
          <a:off xmlns:a="http://schemas.openxmlformats.org/drawingml/2006/main" x="609600" y="1962150"/>
          <a:ext xmlns:a="http://schemas.openxmlformats.org/drawingml/2006/main" cx="7924800" cy="3638550"/>
        </p:xfrm>
        <a:graphic xmlns:a="http://schemas.openxmlformats.org/drawingml/2006/main">
          <a:graphicData uri="http://schemas.openxmlformats.org/drawingml/2006/chart">
            <c:chart xmlns:r="http://schemas.openxmlformats.org/officeDocument/2006/relationships" xmlns:c="http://schemas.openxmlformats.org/drawingml/2006/chart" r:id="R9940d4e611f74c3c"/>
          </a:graphicData>
        </a:graphic>
      </p:graphicFrame>
      <p:sp>
        <p:nvSpPr>
          <p:cNvPr id="5" name="5,042">
            <a:extLst xmlns:a="http://schemas.openxmlformats.org/drawingml/2006/main">
              <a:ext uri="{FF2B5EF4-FFF2-40B4-BE49-F238E27FC236}">
                <a16:creationId xmlns:a16="http://schemas.microsoft.com/office/drawing/2014/main" id="{7CAA2B4B-7000-47C1-AC27-9BBA1FE6B335}"/>
              </a:ext>
            </a:extLst>
          </p:cNvPr>
          <p:cNvSpPr>
            <a:spLocks xmlns:a="http://schemas.openxmlformats.org/drawingml/2006/main" noGrp="1"/>
          </p:cNvSpPr>
          <p:nvPr/>
        </p:nvSpPr>
        <p:spPr>
          <a:xfrm xmlns:a="http://schemas.openxmlformats.org/drawingml/2006/main">
            <a:off x="9010650" y="20764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42CCB9"/>
                </a:solidFill>
                <a:latin typeface="Nimbus Sans"/>
                <a:ea typeface="Nimbus Sans"/>
                <a:cs typeface="Nimbus Sans"/>
              </a:defRPr>
            </a:defPPr>
          </a:lstStyle>
          <a:p xmlns:a="http://schemas.openxmlformats.org/drawingml/2006/main">
            <a:pPr algn="l">
              <a:lnSpc>
                <a:spcPct val="112000"/>
              </a:lnSpc>
              <a:buNone/>
              <a:defRPr sz="4800" b="1">
                <a:solidFill>
                  <a:srgbClr val="42CCB9"/>
                </a:solidFill>
                <a:latin typeface="Nimbus Sans"/>
                <a:ea typeface="Nimbus Sans"/>
                <a:cs typeface="Nimbus Sans"/>
              </a:defRPr>
            </a:pPr>
            <a:r>
              <a:rPr sz="4800" b="1">
                <a:solidFill>
                  <a:srgbClr val="42CCB9"/>
                </a:solidFill>
                <a:latin typeface="Nimbus Sans"/>
                <a:ea typeface="Nimbus Sans"/>
                <a:cs typeface="Nimbus Sans"/>
              </a:rPr>
              <a:t>5,042</a:t>
            </a:r>
          </a:p>
        </p:txBody>
      </p:sp>
      <p:sp>
        <p:nvSpPr>
          <p:cNvPr id="6" name="cleaned narratives">
            <a:extLst xmlns:a="http://schemas.openxmlformats.org/drawingml/2006/main">
              <a:ext uri="{FF2B5EF4-FFF2-40B4-BE49-F238E27FC236}">
                <a16:creationId xmlns:a16="http://schemas.microsoft.com/office/drawing/2014/main" id="{7739A9F3-65AC-423E-8006-89D6B9EAA529}"/>
              </a:ext>
            </a:extLst>
          </p:cNvPr>
          <p:cNvSpPr>
            <a:spLocks xmlns:a="http://schemas.openxmlformats.org/drawingml/2006/main" noGrp="1"/>
          </p:cNvSpPr>
          <p:nvPr/>
        </p:nvSpPr>
        <p:spPr>
          <a:xfrm xmlns:a="http://schemas.openxmlformats.org/drawingml/2006/main">
            <a:off x="9010650" y="2857500"/>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EC0CD"/>
                </a:solidFill>
                <a:latin typeface="Nimbus Sans"/>
                <a:ea typeface="Nimbus Sans"/>
                <a:cs typeface="Nimbus Sans"/>
              </a:defRPr>
            </a:defPPr>
          </a:lstStyle>
          <a:p xmlns:a="http://schemas.openxmlformats.org/drawingml/2006/main">
            <a:pPr algn="l">
              <a:lnSpc>
                <a:spcPct val="112000"/>
              </a:lnSpc>
              <a:buNone/>
              <a:defRPr sz="1800" b="0">
                <a:solidFill>
                  <a:srgbClr val="AEC0CD"/>
                </a:solidFill>
                <a:latin typeface="Nimbus Sans"/>
                <a:ea typeface="Nimbus Sans"/>
                <a:cs typeface="Nimbus Sans"/>
              </a:defRPr>
            </a:pPr>
            <a:r>
              <a:rPr sz="1800" b="0">
                <a:solidFill>
                  <a:srgbClr val="AEC0CD"/>
                </a:solidFill>
                <a:latin typeface="Nimbus Sans"/>
                <a:ea typeface="Nimbus Sans"/>
                <a:cs typeface="Nimbus Sans"/>
              </a:rPr>
              <a:t>cleaned narratives</a:t>
            </a:r>
          </a:p>
        </p:txBody>
      </p:sp>
      <p:sp>
        <p:nvSpPr>
          <p:cNvPr id="7" name="9">
            <a:extLst xmlns:a="http://schemas.openxmlformats.org/drawingml/2006/main">
              <a:ext uri="{FF2B5EF4-FFF2-40B4-BE49-F238E27FC236}">
                <a16:creationId xmlns:a16="http://schemas.microsoft.com/office/drawing/2014/main" id="{4D2CBB55-528F-4E1A-A525-288663755F1D}"/>
              </a:ext>
            </a:extLst>
          </p:cNvPr>
          <p:cNvSpPr>
            <a:spLocks xmlns:a="http://schemas.openxmlformats.org/drawingml/2006/main" noGrp="1"/>
          </p:cNvSpPr>
          <p:nvPr/>
        </p:nvSpPr>
        <p:spPr>
          <a:xfrm xmlns:a="http://schemas.openxmlformats.org/drawingml/2006/main">
            <a:off x="9010650" y="35623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E4BC79"/>
                </a:solidFill>
                <a:latin typeface="Nimbus Sans"/>
                <a:ea typeface="Nimbus Sans"/>
                <a:cs typeface="Nimbus Sans"/>
              </a:defRPr>
            </a:defPPr>
          </a:lstStyle>
          <a:p xmlns:a="http://schemas.openxmlformats.org/drawingml/2006/main">
            <a:pPr algn="l">
              <a:lnSpc>
                <a:spcPct val="112000"/>
              </a:lnSpc>
              <a:buNone/>
              <a:defRPr sz="4800" b="1">
                <a:solidFill>
                  <a:srgbClr val="E4BC79"/>
                </a:solidFill>
                <a:latin typeface="Nimbus Sans"/>
                <a:ea typeface="Nimbus Sans"/>
                <a:cs typeface="Nimbus Sans"/>
              </a:defRPr>
            </a:pPr>
            <a:r>
              <a:rPr sz="4800" b="1">
                <a:solidFill>
                  <a:srgbClr val="E4BC79"/>
                </a:solidFill>
                <a:latin typeface="Nimbus Sans"/>
                <a:ea typeface="Nimbus Sans"/>
                <a:cs typeface="Nimbus Sans"/>
              </a:rPr>
              <a:t>9</a:t>
            </a:r>
          </a:p>
        </p:txBody>
      </p:sp>
      <p:sp>
        <p:nvSpPr>
          <p:cNvPr id="8" name="retained products">
            <a:extLst xmlns:a="http://schemas.openxmlformats.org/drawingml/2006/main">
              <a:ext uri="{FF2B5EF4-FFF2-40B4-BE49-F238E27FC236}">
                <a16:creationId xmlns:a16="http://schemas.microsoft.com/office/drawing/2014/main" id="{213D28E5-AC78-4C1B-A439-BD45D4B9B9EB}"/>
              </a:ext>
            </a:extLst>
          </p:cNvPr>
          <p:cNvSpPr>
            <a:spLocks xmlns:a="http://schemas.openxmlformats.org/drawingml/2006/main" noGrp="1"/>
          </p:cNvSpPr>
          <p:nvPr/>
        </p:nvSpPr>
        <p:spPr>
          <a:xfrm xmlns:a="http://schemas.openxmlformats.org/drawingml/2006/main">
            <a:off x="9010650" y="433387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EC0CD"/>
                </a:solidFill>
                <a:latin typeface="Nimbus Sans"/>
                <a:ea typeface="Nimbus Sans"/>
                <a:cs typeface="Nimbus Sans"/>
              </a:defRPr>
            </a:defPPr>
          </a:lstStyle>
          <a:p xmlns:a="http://schemas.openxmlformats.org/drawingml/2006/main">
            <a:pPr algn="l">
              <a:lnSpc>
                <a:spcPct val="112000"/>
              </a:lnSpc>
              <a:buNone/>
              <a:defRPr sz="1800" b="0">
                <a:solidFill>
                  <a:srgbClr val="AEC0CD"/>
                </a:solidFill>
                <a:latin typeface="Nimbus Sans"/>
                <a:ea typeface="Nimbus Sans"/>
                <a:cs typeface="Nimbus Sans"/>
              </a:defRPr>
            </a:pPr>
            <a:r>
              <a:rPr sz="1800" b="0">
                <a:solidFill>
                  <a:srgbClr val="AEC0CD"/>
                </a:solidFill>
                <a:latin typeface="Nimbus Sans"/>
                <a:ea typeface="Nimbus Sans"/>
                <a:cs typeface="Nimbus Sans"/>
              </a:rPr>
              <a:t>retained products</a:t>
            </a:r>
          </a:p>
        </p:txBody>
      </p:sp>
      <p:sp>
        <p:nvSpPr>
          <p:cNvPr id="9" name="Removals: 4,724 duplicates, 190 conflicting l">
            <a:extLst xmlns:a="http://schemas.openxmlformats.org/drawingml/2006/main">
              <a:ext uri="{FF2B5EF4-FFF2-40B4-BE49-F238E27FC236}">
                <a16:creationId xmlns:a16="http://schemas.microsoft.com/office/drawing/2014/main" id="{5A2D790E-8F23-4A41-83BC-2CFAD19B7979}"/>
              </a:ext>
            </a:extLst>
          </p:cNvPr>
          <p:cNvSpPr>
            <a:spLocks xmlns:a="http://schemas.openxmlformats.org/drawingml/2006/main" noGrp="1"/>
          </p:cNvSpPr>
          <p:nvPr/>
        </p:nvSpPr>
        <p:spPr>
          <a:xfrm xmlns:a="http://schemas.openxmlformats.org/drawingml/2006/main">
            <a:off x="609600" y="57816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2F6F8"/>
                </a:solidFill>
                <a:latin typeface="Nimbus Sans"/>
                <a:ea typeface="Nimbus Sans"/>
                <a:cs typeface="Nimbus Sans"/>
              </a:defRPr>
            </a:defPPr>
          </a:lstStyle>
          <a:p xmlns:a="http://schemas.openxmlformats.org/drawingml/2006/main">
            <a:pPr algn="l">
              <a:lnSpc>
                <a:spcPct val="112000"/>
              </a:lnSpc>
              <a:buNone/>
              <a:defRPr sz="1725" b="0">
                <a:solidFill>
                  <a:srgbClr val="F2F6F8"/>
                </a:solidFill>
                <a:latin typeface="Nimbus Sans"/>
                <a:ea typeface="Nimbus Sans"/>
                <a:cs typeface="Nimbus Sans"/>
              </a:defRPr>
            </a:pPr>
            <a:r>
              <a:rPr sz="1725" b="0">
                <a:solidFill>
                  <a:srgbClr val="F2F6F8"/>
                </a:solidFill>
                <a:latin typeface="Nimbus Sans"/>
                <a:ea typeface="Nimbus Sans"/>
                <a:cs typeface="Nimbus Sans"/>
              </a:rPr>
              <a:t>Removals: 4,724 duplicates, 190 conflicting labels, 7 short texts, 37 rare-label records.</a:t>
            </a:r>
          </a:p>
          <a:p xmlns:a="http://schemas.openxmlformats.org/drawingml/2006/main">
            <a:pPr algn="l">
              <a:lnSpc>
                <a:spcPct val="112000"/>
              </a:lnSpc>
              <a:buNone/>
              <a:defRPr sz="1725" b="0">
                <a:solidFill>
                  <a:srgbClr val="F2F6F8"/>
                </a:solidFill>
                <a:latin typeface="Nimbus Sans"/>
                <a:ea typeface="Nimbus Sans"/>
                <a:cs typeface="Nimbus Sans"/>
              </a:defRPr>
            </a:pPr>
            <a:r>
              <a:rPr sz="1725" b="0">
                <a:solidFill>
                  <a:srgbClr val="F2F6F8"/>
                </a:solidFill>
                <a:latin typeface="Nimbus Sans"/>
                <a:ea typeface="Nimbus Sans"/>
                <a:cs typeface="Nimbus Sans"/>
              </a:rPr>
              <a:t>This snapshot had zero empty required fields.</a:t>
            </a:r>
          </a:p>
        </p:txBody>
      </p:sp>
    </p:spTree>
    <p:extLst>
      <p:ext uri="{BB962C8B-B14F-4D97-AF65-F5344CB8AC3E}">
        <p14:creationId xmlns:p14="http://schemas.microsoft.com/office/powerpoint/2010/main" val="1422786836"/>
      </p:ext>
    </p:extLst>
  </p:cSld>
</p:sld>
</file>

<file path=ppt/slides/slide4.xml><?xml version="1.0" encoding="utf-8"?>
<p:sld xmlns:p="http://schemas.openxmlformats.org/presentationml/2006/main">
  <p:cSld>
    <p:bg>
      <p:bgPr>
        <a:solidFill xmlns:a="http://schemas.openxmlformats.org/drawingml/2006/main">
          <a:srgbClr val="08162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773C2A1-21AB-43A2-84EA-DF3C9A6B0A03}"/>
              </a:ext>
            </a:extLst>
          </p:cNvPr>
          <p:cNvSpPr>
            <a:spLocks xmlns:a="http://schemas.openxmlformats.org/drawingml/2006/main" noGrp="1"/>
          </p:cNvSpPr>
          <p:nvPr/>
        </p:nvSpPr>
        <p:spPr>
          <a:xfrm xmlns:a="http://schemas.openxmlformats.org/drawingml/2006/main">
            <a:off x="609600" y="5524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2F6F8"/>
                </a:solidFill>
                <a:latin typeface="Nimbus Sans"/>
                <a:ea typeface="Nimbus Sans"/>
                <a:cs typeface="Nimbus Sans"/>
              </a:defRPr>
            </a:defPPr>
          </a:lstStyle>
          <a:p xmlns:a="http://schemas.openxmlformats.org/drawingml/2006/main">
            <a:pPr algn="l">
              <a:lnSpc>
                <a:spcPct val="112000"/>
              </a:lnSpc>
              <a:buNone/>
              <a:defRPr sz="3150" b="1">
                <a:solidFill>
                  <a:srgbClr val="F2F6F8"/>
                </a:solidFill>
                <a:latin typeface="Nimbus Sans"/>
                <a:ea typeface="Nimbus Sans"/>
                <a:cs typeface="Nimbus Sans"/>
              </a:defRPr>
            </a:pPr>
            <a:r>
              <a:rPr sz="3150" b="1">
                <a:solidFill>
                  <a:srgbClr val="F2F6F8"/>
                </a:solidFill>
                <a:latin typeface="Nimbus Sans"/>
                <a:ea typeface="Nimbus Sans"/>
                <a:cs typeface="Nimbus Sans"/>
              </a:rPr>
              <a:t>Text representation and data splits</a:t>
            </a:r>
          </a:p>
        </p:txBody>
      </p:sp>
      <p:sp>
        <p:nvSpPr>
          <p:cNvPr id="2" name="slide-number">
            <a:extLst xmlns:a="http://schemas.openxmlformats.org/drawingml/2006/main">
              <a:ext uri="{FF2B5EF4-FFF2-40B4-BE49-F238E27FC236}">
                <a16:creationId xmlns:a16="http://schemas.microsoft.com/office/drawing/2014/main" id="{E521D4F5-55C6-4C6F-A057-5FD1FA7807C4}"/>
              </a:ext>
            </a:extLst>
          </p:cNvPr>
          <p:cNvSpPr>
            <a:spLocks xmlns:a="http://schemas.openxmlformats.org/drawingml/2006/main" noGrp="1"/>
          </p:cNvSpPr>
          <p:nvPr/>
        </p:nvSpPr>
        <p:spPr>
          <a:xfrm xmlns:a="http://schemas.openxmlformats.org/drawingml/2006/main">
            <a:off x="10668000" y="64008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D"/>
                </a:solidFill>
                <a:latin typeface="Nimbus Sans"/>
                <a:ea typeface="Nimbus Sans"/>
                <a:cs typeface="Nimbus Sans"/>
              </a:defRPr>
            </a:defPPr>
          </a:lstStyle>
          <a:p xmlns:a="http://schemas.openxmlformats.org/drawingml/2006/main">
            <a:pPr algn="r">
              <a:lnSpc>
                <a:spcPct val="112000"/>
              </a:lnSpc>
              <a:buNone/>
              <a:defRPr sz="1350" b="0">
                <a:solidFill>
                  <a:srgbClr val="AEC0CD"/>
                </a:solidFill>
                <a:latin typeface="Nimbus Sans"/>
                <a:ea typeface="Nimbus Sans"/>
                <a:cs typeface="Nimbus Sans"/>
              </a:defRPr>
            </a:pPr>
            <a:r>
              <a:rPr sz="1350" b="0">
                <a:solidFill>
                  <a:srgbClr val="AEC0CD"/>
                </a:solidFill>
                <a:latin typeface="Nimbus Sans"/>
                <a:ea typeface="Nimbus Sans"/>
                <a:cs typeface="Nimbus Sans"/>
              </a:rPr>
              <a:t>04 / 10</a:t>
            </a:r>
          </a:p>
        </p:txBody>
      </p:sp>
      <p:sp>
        <p:nvSpPr>
          <p:cNvPr id="3" name="TF-IDF">
            <a:extLst xmlns:a="http://schemas.openxmlformats.org/drawingml/2006/main">
              <a:ext uri="{FF2B5EF4-FFF2-40B4-BE49-F238E27FC236}">
                <a16:creationId xmlns:a16="http://schemas.microsoft.com/office/drawing/2014/main" id="{FAE641CE-994E-4347-89C5-302705571839}"/>
              </a:ext>
            </a:extLst>
          </p:cNvPr>
          <p:cNvSpPr>
            <a:spLocks xmlns:a="http://schemas.openxmlformats.org/drawingml/2006/main" noGrp="1"/>
          </p:cNvSpPr>
          <p:nvPr/>
        </p:nvSpPr>
        <p:spPr>
          <a:xfrm xmlns:a="http://schemas.openxmlformats.org/drawingml/2006/main">
            <a:off x="609600" y="147637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42CCB9"/>
                </a:solidFill>
                <a:latin typeface="Nimbus Sans"/>
                <a:ea typeface="Nimbus Sans"/>
                <a:cs typeface="Nimbus Sans"/>
              </a:defRPr>
            </a:defPPr>
          </a:lstStyle>
          <a:p xmlns:a="http://schemas.openxmlformats.org/drawingml/2006/main">
            <a:pPr algn="l">
              <a:lnSpc>
                <a:spcPct val="112000"/>
              </a:lnSpc>
              <a:buNone/>
              <a:defRPr sz="3900" b="1">
                <a:solidFill>
                  <a:srgbClr val="42CCB9"/>
                </a:solidFill>
                <a:latin typeface="Nimbus Sans"/>
                <a:ea typeface="Nimbus Sans"/>
                <a:cs typeface="Nimbus Sans"/>
              </a:defRPr>
            </a:pPr>
            <a:r>
              <a:rPr sz="3900" b="1">
                <a:solidFill>
                  <a:srgbClr val="42CCB9"/>
                </a:solidFill>
                <a:latin typeface="Nimbus Sans"/>
                <a:ea typeface="Nimbus Sans"/>
                <a:cs typeface="Nimbus Sans"/>
              </a:rPr>
              <a:t>TF-IDF</a:t>
            </a:r>
          </a:p>
        </p:txBody>
      </p:sp>
      <p:sp>
        <p:nvSpPr>
          <p:cNvPr id="4" name="Weights words by their frequency in a complai">
            <a:extLst xmlns:a="http://schemas.openxmlformats.org/drawingml/2006/main">
              <a:ext uri="{FF2B5EF4-FFF2-40B4-BE49-F238E27FC236}">
                <a16:creationId xmlns:a16="http://schemas.microsoft.com/office/drawing/2014/main" id="{658DF2BA-97C8-4CDF-99B1-2986BD5A6F24}"/>
              </a:ext>
            </a:extLst>
          </p:cNvPr>
          <p:cNvSpPr>
            <a:spLocks xmlns:a="http://schemas.openxmlformats.org/drawingml/2006/main" noGrp="1"/>
          </p:cNvSpPr>
          <p:nvPr/>
        </p:nvSpPr>
        <p:spPr>
          <a:xfrm xmlns:a="http://schemas.openxmlformats.org/drawingml/2006/main">
            <a:off x="609600" y="2266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2F6F8"/>
                </a:solidFill>
                <a:latin typeface="Nimbus Sans"/>
                <a:ea typeface="Nimbus Sans"/>
                <a:cs typeface="Nimbus Sans"/>
              </a:defRPr>
            </a:defPPr>
          </a:lstStyle>
          <a:p xmlns:a="http://schemas.openxmlformats.org/drawingml/2006/main">
            <a:pPr algn="l">
              <a:lnSpc>
                <a:spcPct val="112000"/>
              </a:lnSpc>
              <a:buNone/>
              <a:defRPr sz="2100" b="0">
                <a:solidFill>
                  <a:srgbClr val="F2F6F8"/>
                </a:solidFill>
                <a:latin typeface="Nimbus Sans"/>
                <a:ea typeface="Nimbus Sans"/>
                <a:cs typeface="Nimbus Sans"/>
              </a:defRPr>
            </a:pPr>
            <a:r>
              <a:rPr sz="2100" b="0">
                <a:solidFill>
                  <a:srgbClr val="F2F6F8"/>
                </a:solidFill>
                <a:latin typeface="Nimbus Sans"/>
                <a:ea typeface="Nimbus Sans"/>
                <a:cs typeface="Nimbus Sans"/>
              </a:rPr>
              <a:t>Weights words by their frequency in a complaint</a:t>
            </a:r>
          </a:p>
          <a:p xmlns:a="http://schemas.openxmlformats.org/drawingml/2006/main">
            <a:pPr algn="l">
              <a:lnSpc>
                <a:spcPct val="112000"/>
              </a:lnSpc>
              <a:buNone/>
              <a:defRPr sz="2100" b="0">
                <a:solidFill>
                  <a:srgbClr val="F2F6F8"/>
                </a:solidFill>
                <a:latin typeface="Nimbus Sans"/>
                <a:ea typeface="Nimbus Sans"/>
                <a:cs typeface="Nimbus Sans"/>
              </a:defRPr>
            </a:pPr>
            <a:r>
              <a:rPr sz="2100" b="0">
                <a:solidFill>
                  <a:srgbClr val="F2F6F8"/>
                </a:solidFill>
                <a:latin typeface="Nimbus Sans"/>
                <a:ea typeface="Nimbus Sans"/>
                <a:cs typeface="Nimbus Sans"/>
              </a:rPr>
              <a:t>and how distinctive they are across complaints.</a:t>
            </a:r>
          </a:p>
        </p:txBody>
      </p:sp>
      <p:sp>
        <p:nvSpPr>
          <p:cNvPr id="5" name="Single words and two-word phrases&#10;30,000 nume">
            <a:extLst xmlns:a="http://schemas.openxmlformats.org/drawingml/2006/main">
              <a:ext uri="{FF2B5EF4-FFF2-40B4-BE49-F238E27FC236}">
                <a16:creationId xmlns:a16="http://schemas.microsoft.com/office/drawing/2014/main" id="{9D333028-4A53-49D8-9F05-D1CD98B2D67A}"/>
              </a:ext>
            </a:extLst>
          </p:cNvPr>
          <p:cNvSpPr>
            <a:spLocks xmlns:a="http://schemas.openxmlformats.org/drawingml/2006/main" noGrp="1"/>
          </p:cNvSpPr>
          <p:nvPr/>
        </p:nvSpPr>
        <p:spPr>
          <a:xfrm xmlns:a="http://schemas.openxmlformats.org/drawingml/2006/main">
            <a:off x="609600" y="3209925"/>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AEC0CD"/>
                </a:solidFill>
                <a:latin typeface="Nimbus Sans"/>
                <a:ea typeface="Nimbus Sans"/>
                <a:cs typeface="Nimbus Sans"/>
              </a:defRPr>
            </a:defPPr>
          </a:lstStyle>
          <a:p xmlns:a="http://schemas.openxmlformats.org/drawingml/2006/main">
            <a:pPr algn="l">
              <a:lnSpc>
                <a:spcPct val="112000"/>
              </a:lnSpc>
              <a:buNone/>
              <a:defRPr sz="2100" b="0">
                <a:solidFill>
                  <a:srgbClr val="AEC0CD"/>
                </a:solidFill>
                <a:latin typeface="Nimbus Sans"/>
                <a:ea typeface="Nimbus Sans"/>
                <a:cs typeface="Nimbus Sans"/>
              </a:defRPr>
            </a:pPr>
            <a:r>
              <a:rPr sz="2100" b="0">
                <a:solidFill>
                  <a:srgbClr val="AEC0CD"/>
                </a:solidFill>
                <a:latin typeface="Nimbus Sans"/>
                <a:ea typeface="Nimbus Sans"/>
                <a:cs typeface="Nimbus Sans"/>
              </a:rPr>
              <a:t>Single words and two-word phrases</a:t>
            </a:r>
          </a:p>
          <a:p xmlns:a="http://schemas.openxmlformats.org/drawingml/2006/main">
            <a:pPr algn="l">
              <a:lnSpc>
                <a:spcPct val="112000"/>
              </a:lnSpc>
              <a:buNone/>
              <a:defRPr sz="2100" b="0">
                <a:solidFill>
                  <a:srgbClr val="AEC0CD"/>
                </a:solidFill>
                <a:latin typeface="Nimbus Sans"/>
                <a:ea typeface="Nimbus Sans"/>
                <a:cs typeface="Nimbus Sans"/>
              </a:defRPr>
            </a:pPr>
            <a:r>
              <a:rPr sz="2100" b="0">
                <a:solidFill>
                  <a:srgbClr val="AEC0CD"/>
                </a:solidFill>
                <a:latin typeface="Nimbus Sans"/>
                <a:ea typeface="Nimbus Sans"/>
                <a:cs typeface="Nimbus Sans"/>
              </a:rPr>
              <a:t>30,000 numerical features</a:t>
            </a:r>
          </a:p>
        </p:txBody>
      </p:sp>
      <p:sp>
        <p:nvSpPr>
          <p:cNvPr id="6" name="Example features&#10;“mortgage” and “credit card”">
            <a:extLst xmlns:a="http://schemas.openxmlformats.org/drawingml/2006/main">
              <a:ext uri="{FF2B5EF4-FFF2-40B4-BE49-F238E27FC236}">
                <a16:creationId xmlns:a16="http://schemas.microsoft.com/office/drawing/2014/main" id="{2D84ABFF-6F84-4DCB-A85B-10402F69C80D}"/>
              </a:ext>
            </a:extLst>
          </p:cNvPr>
          <p:cNvSpPr>
            <a:spLocks xmlns:a="http://schemas.openxmlformats.org/drawingml/2006/main" noGrp="1"/>
          </p:cNvSpPr>
          <p:nvPr/>
        </p:nvSpPr>
        <p:spPr>
          <a:xfrm xmlns:a="http://schemas.openxmlformats.org/drawingml/2006/main">
            <a:off x="6705600" y="3209925"/>
            <a:ext cx="4876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E4BC79"/>
                </a:solidFill>
                <a:latin typeface="Nimbus Sans"/>
                <a:ea typeface="Nimbus Sans"/>
                <a:cs typeface="Nimbus Sans"/>
              </a:defRPr>
            </a:defPPr>
          </a:lstStyle>
          <a:p xmlns:a="http://schemas.openxmlformats.org/drawingml/2006/main">
            <a:pPr algn="l">
              <a:lnSpc>
                <a:spcPct val="112000"/>
              </a:lnSpc>
              <a:buNone/>
              <a:defRPr sz="2100" b="0">
                <a:solidFill>
                  <a:srgbClr val="E4BC79"/>
                </a:solidFill>
                <a:latin typeface="Nimbus Sans"/>
                <a:ea typeface="Nimbus Sans"/>
                <a:cs typeface="Nimbus Sans"/>
              </a:defRPr>
            </a:pPr>
            <a:r>
              <a:rPr sz="2100" b="0">
                <a:solidFill>
                  <a:srgbClr val="E4BC79"/>
                </a:solidFill>
                <a:latin typeface="Nimbus Sans"/>
                <a:ea typeface="Nimbus Sans"/>
                <a:cs typeface="Nimbus Sans"/>
              </a:rPr>
              <a:t>Example features</a:t>
            </a:r>
          </a:p>
          <a:p xmlns:a="http://schemas.openxmlformats.org/drawingml/2006/main">
            <a:pPr algn="l">
              <a:lnSpc>
                <a:spcPct val="112000"/>
              </a:lnSpc>
              <a:buNone/>
              <a:defRPr sz="2100" b="0">
                <a:solidFill>
                  <a:srgbClr val="E4BC79"/>
                </a:solidFill>
                <a:latin typeface="Nimbus Sans"/>
                <a:ea typeface="Nimbus Sans"/>
                <a:cs typeface="Nimbus Sans"/>
              </a:defRPr>
            </a:pPr>
            <a:r>
              <a:rPr sz="2100" b="0">
                <a:solidFill>
                  <a:srgbClr val="E4BC79"/>
                </a:solidFill>
                <a:latin typeface="Nimbus Sans"/>
                <a:ea typeface="Nimbus Sans"/>
                <a:cs typeface="Nimbus Sans"/>
              </a:rPr>
              <a:t>“mortgage” and “credit card”</a:t>
            </a:r>
          </a:p>
        </p:txBody>
      </p:sp>
      <p:graphicFrame>
        <p:nvGraphicFramePr>
          <p:cNvPr id="7" name="Chart">
            <a:extLst xmlns:a="http://schemas.openxmlformats.org/drawingml/2006/main">
              <a:ext uri="{FF2B5EF4-FFF2-40B4-BE49-F238E27FC236}">
                <a16:creationId xmlns:a16="http://schemas.microsoft.com/office/drawing/2014/main" id="{AC6AD8AD-6E74-4DB2-8E99-87FBF81A012F}"/>
              </a:ext>
            </a:extLst>
          </p:cNvPr>
          <p:cNvGraphicFramePr/>
          <p:nvPr/>
        </p:nvGraphicFramePr>
        <p:xfrm>
          <a:off xmlns:a="http://schemas.openxmlformats.org/drawingml/2006/main" x="609600" y="4219575"/>
          <a:ext xmlns:a="http://schemas.openxmlformats.org/drawingml/2006/main" cx="10972800" cy="1562100"/>
        </p:xfrm>
        <a:graphic xmlns:a="http://schemas.openxmlformats.org/drawingml/2006/main">
          <a:graphicData uri="http://schemas.openxmlformats.org/drawingml/2006/chart">
            <c:chart xmlns:r="http://schemas.openxmlformats.org/officeDocument/2006/relationships" xmlns:c="http://schemas.openxmlformats.org/drawingml/2006/chart" r:id="Raeff07fe6b62483c"/>
          </a:graphicData>
        </a:graphic>
      </p:graphicFrame>
      <p:sp>
        <p:nvSpPr>
          <p:cNvPr id="8" name="Vocabulary learned on training data only. Str">
            <a:extLst xmlns:a="http://schemas.openxmlformats.org/drawingml/2006/main">
              <a:ext uri="{FF2B5EF4-FFF2-40B4-BE49-F238E27FC236}">
                <a16:creationId xmlns:a16="http://schemas.microsoft.com/office/drawing/2014/main" id="{80D55A7A-3543-43CB-BDA7-73653E732197}"/>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2F6F8"/>
                </a:solidFill>
                <a:latin typeface="Nimbus Sans"/>
                <a:ea typeface="Nimbus Sans"/>
                <a:cs typeface="Nimbus Sans"/>
              </a:defRPr>
            </a:defPPr>
          </a:lstStyle>
          <a:p xmlns:a="http://schemas.openxmlformats.org/drawingml/2006/main">
            <a:pPr algn="l">
              <a:lnSpc>
                <a:spcPct val="112000"/>
              </a:lnSpc>
              <a:buNone/>
              <a:defRPr sz="1875" b="0">
                <a:solidFill>
                  <a:srgbClr val="F2F6F8"/>
                </a:solidFill>
                <a:latin typeface="Nimbus Sans"/>
                <a:ea typeface="Nimbus Sans"/>
                <a:cs typeface="Nimbus Sans"/>
              </a:defRPr>
            </a:pPr>
            <a:r>
              <a:rPr sz="1875" b="0">
                <a:solidFill>
                  <a:srgbClr val="F2F6F8"/>
                </a:solidFill>
                <a:latin typeface="Nimbus Sans"/>
                <a:ea typeface="Nimbus Sans"/>
                <a:cs typeface="Nimbus Sans"/>
              </a:rPr>
              <a:t>Vocabulary learned on training data only. Stratified splits use seed 42.</a:t>
            </a:r>
          </a:p>
        </p:txBody>
      </p:sp>
    </p:spTree>
    <p:extLst>
      <p:ext uri="{BB962C8B-B14F-4D97-AF65-F5344CB8AC3E}">
        <p14:creationId xmlns:p14="http://schemas.microsoft.com/office/powerpoint/2010/main" val="1909796820"/>
      </p:ext>
    </p:extLst>
  </p:cSld>
</p:sld>
</file>

<file path=ppt/slides/slide5.xml><?xml version="1.0" encoding="utf-8"?>
<p:sld xmlns:p="http://schemas.openxmlformats.org/presentationml/2006/main">
  <p:cSld>
    <p:bg>
      <p:bgPr>
        <a:solidFill xmlns:a="http://schemas.openxmlformats.org/drawingml/2006/main">
          <a:srgbClr val="08162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7C2B829A-C11B-4D0B-ABAF-EB217CD9924D}"/>
              </a:ext>
            </a:extLst>
          </p:cNvPr>
          <p:cNvSpPr>
            <a:spLocks xmlns:a="http://schemas.openxmlformats.org/drawingml/2006/main" noGrp="1"/>
          </p:cNvSpPr>
          <p:nvPr/>
        </p:nvSpPr>
        <p:spPr>
          <a:xfrm xmlns:a="http://schemas.openxmlformats.org/drawingml/2006/main">
            <a:off x="609600" y="5524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2F6F8"/>
                </a:solidFill>
                <a:latin typeface="Nimbus Sans"/>
                <a:ea typeface="Nimbus Sans"/>
                <a:cs typeface="Nimbus Sans"/>
              </a:defRPr>
            </a:defPPr>
          </a:lstStyle>
          <a:p xmlns:a="http://schemas.openxmlformats.org/drawingml/2006/main">
            <a:pPr algn="l">
              <a:lnSpc>
                <a:spcPct val="112000"/>
              </a:lnSpc>
              <a:buNone/>
              <a:defRPr sz="3150" b="1">
                <a:solidFill>
                  <a:srgbClr val="F2F6F8"/>
                </a:solidFill>
                <a:latin typeface="Nimbus Sans"/>
                <a:ea typeface="Nimbus Sans"/>
                <a:cs typeface="Nimbus Sans"/>
              </a:defRPr>
            </a:pPr>
            <a:r>
              <a:rPr sz="3150" b="1">
                <a:solidFill>
                  <a:srgbClr val="F2F6F8"/>
                </a:solidFill>
                <a:latin typeface="Nimbus Sans"/>
                <a:ea typeface="Nimbus Sans"/>
                <a:cs typeface="Nimbus Sans"/>
              </a:rPr>
              <a:t>Model comparison</a:t>
            </a:r>
          </a:p>
        </p:txBody>
      </p:sp>
      <p:sp>
        <p:nvSpPr>
          <p:cNvPr id="2" name="slide-number">
            <a:extLst xmlns:a="http://schemas.openxmlformats.org/drawingml/2006/main">
              <a:ext uri="{FF2B5EF4-FFF2-40B4-BE49-F238E27FC236}">
                <a16:creationId xmlns:a16="http://schemas.microsoft.com/office/drawing/2014/main" id="{6ACF4339-9B3C-482F-8EF2-517BD28D785D}"/>
              </a:ext>
            </a:extLst>
          </p:cNvPr>
          <p:cNvSpPr>
            <a:spLocks xmlns:a="http://schemas.openxmlformats.org/drawingml/2006/main" noGrp="1"/>
          </p:cNvSpPr>
          <p:nvPr/>
        </p:nvSpPr>
        <p:spPr>
          <a:xfrm xmlns:a="http://schemas.openxmlformats.org/drawingml/2006/main">
            <a:off x="10668000" y="64008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D"/>
                </a:solidFill>
                <a:latin typeface="Nimbus Sans"/>
                <a:ea typeface="Nimbus Sans"/>
                <a:cs typeface="Nimbus Sans"/>
              </a:defRPr>
            </a:defPPr>
          </a:lstStyle>
          <a:p xmlns:a="http://schemas.openxmlformats.org/drawingml/2006/main">
            <a:pPr algn="r">
              <a:lnSpc>
                <a:spcPct val="112000"/>
              </a:lnSpc>
              <a:buNone/>
              <a:defRPr sz="1350" b="0">
                <a:solidFill>
                  <a:srgbClr val="AEC0CD"/>
                </a:solidFill>
                <a:latin typeface="Nimbus Sans"/>
                <a:ea typeface="Nimbus Sans"/>
                <a:cs typeface="Nimbus Sans"/>
              </a:defRPr>
            </a:pPr>
            <a:r>
              <a:rPr sz="1350" b="0">
                <a:solidFill>
                  <a:srgbClr val="AEC0CD"/>
                </a:solidFill>
                <a:latin typeface="Nimbus Sans"/>
                <a:ea typeface="Nimbus Sans"/>
                <a:cs typeface="Nimbus Sans"/>
              </a:rPr>
              <a:t>05 / 10</a:t>
            </a:r>
          </a:p>
        </p:txBody>
      </p:sp>
      <p:sp>
        <p:nvSpPr>
          <p:cNvPr id="3" name="Validation Macro-F1 gives every product equal">
            <a:extLst xmlns:a="http://schemas.openxmlformats.org/drawingml/2006/main">
              <a:ext uri="{FF2B5EF4-FFF2-40B4-BE49-F238E27FC236}">
                <a16:creationId xmlns:a16="http://schemas.microsoft.com/office/drawing/2014/main" id="{E01836C7-014C-487F-8A1A-E6C14B57B854}"/>
              </a:ext>
            </a:extLst>
          </p:cNvPr>
          <p:cNvSpPr>
            <a:spLocks xmlns:a="http://schemas.openxmlformats.org/drawingml/2006/main" noGrp="1"/>
          </p:cNvSpPr>
          <p:nvPr/>
        </p:nvSpPr>
        <p:spPr>
          <a:xfrm xmlns:a="http://schemas.openxmlformats.org/drawingml/2006/main">
            <a:off x="609600" y="12954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EC0CD"/>
                </a:solidFill>
                <a:latin typeface="Nimbus Sans"/>
                <a:ea typeface="Nimbus Sans"/>
                <a:cs typeface="Nimbus Sans"/>
              </a:defRPr>
            </a:defPPr>
          </a:lstStyle>
          <a:p xmlns:a="http://schemas.openxmlformats.org/drawingml/2006/main">
            <a:pPr algn="l">
              <a:lnSpc>
                <a:spcPct val="112000"/>
              </a:lnSpc>
              <a:buNone/>
              <a:defRPr sz="1875" b="0">
                <a:solidFill>
                  <a:srgbClr val="AEC0CD"/>
                </a:solidFill>
                <a:latin typeface="Nimbus Sans"/>
                <a:ea typeface="Nimbus Sans"/>
                <a:cs typeface="Nimbus Sans"/>
              </a:defRPr>
            </a:pPr>
            <a:r>
              <a:rPr sz="1875" b="0">
                <a:solidFill>
                  <a:srgbClr val="AEC0CD"/>
                </a:solidFill>
                <a:latin typeface="Nimbus Sans"/>
                <a:ea typeface="Nimbus Sans"/>
                <a:cs typeface="Nimbus Sans"/>
              </a:rPr>
              <a:t>Validation Macro-F1 gives every product equal weight</a:t>
            </a:r>
          </a:p>
        </p:txBody>
      </p:sp>
      <p:graphicFrame>
        <p:nvGraphicFramePr>
          <p:cNvPr id="4" name="Chart">
            <a:extLst xmlns:a="http://schemas.openxmlformats.org/drawingml/2006/main">
              <a:ext uri="{FF2B5EF4-FFF2-40B4-BE49-F238E27FC236}">
                <a16:creationId xmlns:a16="http://schemas.microsoft.com/office/drawing/2014/main" id="{3889DB66-5D82-4031-9638-940F412FE747}"/>
              </a:ext>
            </a:extLst>
          </p:cNvPr>
          <p:cNvGraphicFramePr/>
          <p:nvPr/>
        </p:nvGraphicFramePr>
        <p:xfrm>
          <a:off xmlns:a="http://schemas.openxmlformats.org/drawingml/2006/main" x="609600" y="2038350"/>
          <a:ext xmlns:a="http://schemas.openxmlformats.org/drawingml/2006/main" cx="8324850" cy="3714750"/>
        </p:xfrm>
        <a:graphic xmlns:a="http://schemas.openxmlformats.org/drawingml/2006/main">
          <a:graphicData uri="http://schemas.openxmlformats.org/drawingml/2006/chart">
            <c:chart xmlns:r="http://schemas.openxmlformats.org/officeDocument/2006/relationships" xmlns:c="http://schemas.openxmlformats.org/drawingml/2006/chart" r:id="R9fb4c2aa0d61422c"/>
          </a:graphicData>
        </a:graphic>
      </p:graphicFrame>
      <p:sp>
        <p:nvSpPr>
          <p:cNvPr id="5" name="Selected model">
            <a:extLst xmlns:a="http://schemas.openxmlformats.org/drawingml/2006/main">
              <a:ext uri="{FF2B5EF4-FFF2-40B4-BE49-F238E27FC236}">
                <a16:creationId xmlns:a16="http://schemas.microsoft.com/office/drawing/2014/main" id="{39FD5C05-0420-4AE8-BFD5-FF851638FF64}"/>
              </a:ext>
            </a:extLst>
          </p:cNvPr>
          <p:cNvSpPr>
            <a:spLocks xmlns:a="http://schemas.openxmlformats.org/drawingml/2006/main" noGrp="1"/>
          </p:cNvSpPr>
          <p:nvPr/>
        </p:nvSpPr>
        <p:spPr>
          <a:xfrm xmlns:a="http://schemas.openxmlformats.org/drawingml/2006/main">
            <a:off x="9486900" y="219075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E4BC79"/>
                </a:solidFill>
                <a:latin typeface="Nimbus Sans"/>
                <a:ea typeface="Nimbus Sans"/>
                <a:cs typeface="Nimbus Sans"/>
              </a:defRPr>
            </a:defPPr>
          </a:lstStyle>
          <a:p xmlns:a="http://schemas.openxmlformats.org/drawingml/2006/main">
            <a:pPr algn="l">
              <a:lnSpc>
                <a:spcPct val="112000"/>
              </a:lnSpc>
              <a:buNone/>
              <a:defRPr sz="1800" b="1">
                <a:solidFill>
                  <a:srgbClr val="E4BC79"/>
                </a:solidFill>
                <a:latin typeface="Nimbus Sans"/>
                <a:ea typeface="Nimbus Sans"/>
                <a:cs typeface="Nimbus Sans"/>
              </a:defRPr>
            </a:pPr>
            <a:r>
              <a:rPr sz="1800" b="1">
                <a:solidFill>
                  <a:srgbClr val="E4BC79"/>
                </a:solidFill>
                <a:latin typeface="Nimbus Sans"/>
                <a:ea typeface="Nimbus Sans"/>
                <a:cs typeface="Nimbus Sans"/>
              </a:rPr>
              <a:t>Selected model</a:t>
            </a:r>
          </a:p>
        </p:txBody>
      </p:sp>
      <p:sp>
        <p:nvSpPr>
          <p:cNvPr id="6" name="Linear SVM">
            <a:extLst xmlns:a="http://schemas.openxmlformats.org/drawingml/2006/main">
              <a:ext uri="{FF2B5EF4-FFF2-40B4-BE49-F238E27FC236}">
                <a16:creationId xmlns:a16="http://schemas.microsoft.com/office/drawing/2014/main" id="{9EB298DF-F3B2-43FF-9AC5-D6056ADAC73E}"/>
              </a:ext>
            </a:extLst>
          </p:cNvPr>
          <p:cNvSpPr>
            <a:spLocks xmlns:a="http://schemas.openxmlformats.org/drawingml/2006/main" noGrp="1"/>
          </p:cNvSpPr>
          <p:nvPr/>
        </p:nvSpPr>
        <p:spPr>
          <a:xfrm xmlns:a="http://schemas.openxmlformats.org/drawingml/2006/main">
            <a:off x="9486900" y="27622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42CCB9"/>
                </a:solidFill>
                <a:latin typeface="Nimbus Sans"/>
                <a:ea typeface="Nimbus Sans"/>
                <a:cs typeface="Nimbus Sans"/>
              </a:defRPr>
            </a:defPPr>
          </a:lstStyle>
          <a:p xmlns:a="http://schemas.openxmlformats.org/drawingml/2006/main">
            <a:pPr algn="l">
              <a:lnSpc>
                <a:spcPct val="112000"/>
              </a:lnSpc>
              <a:buNone/>
              <a:defRPr sz="2550" b="1">
                <a:solidFill>
                  <a:srgbClr val="42CCB9"/>
                </a:solidFill>
                <a:latin typeface="Nimbus Sans"/>
                <a:ea typeface="Nimbus Sans"/>
                <a:cs typeface="Nimbus Sans"/>
              </a:defRPr>
            </a:pPr>
            <a:r>
              <a:rPr sz="2550" b="1">
                <a:solidFill>
                  <a:srgbClr val="42CCB9"/>
                </a:solidFill>
                <a:latin typeface="Nimbus Sans"/>
                <a:ea typeface="Nimbus Sans"/>
                <a:cs typeface="Nimbus Sans"/>
              </a:rPr>
              <a:t>Linear SVM</a:t>
            </a:r>
          </a:p>
        </p:txBody>
      </p:sp>
      <p:sp>
        <p:nvSpPr>
          <p:cNvPr id="7" name="C = 1&#10;Balanced weights">
            <a:extLst xmlns:a="http://schemas.openxmlformats.org/drawingml/2006/main">
              <a:ext uri="{FF2B5EF4-FFF2-40B4-BE49-F238E27FC236}">
                <a16:creationId xmlns:a16="http://schemas.microsoft.com/office/drawing/2014/main" id="{C0E21BEB-A343-4C74-AFE4-7F4617DACC0A}"/>
              </a:ext>
            </a:extLst>
          </p:cNvPr>
          <p:cNvSpPr>
            <a:spLocks xmlns:a="http://schemas.openxmlformats.org/drawingml/2006/main" noGrp="1"/>
          </p:cNvSpPr>
          <p:nvPr/>
        </p:nvSpPr>
        <p:spPr>
          <a:xfrm xmlns:a="http://schemas.openxmlformats.org/drawingml/2006/main">
            <a:off x="9486900" y="3457575"/>
            <a:ext cx="2095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2F6F8"/>
                </a:solidFill>
                <a:latin typeface="Nimbus Sans"/>
                <a:ea typeface="Nimbus Sans"/>
                <a:cs typeface="Nimbus Sans"/>
              </a:defRPr>
            </a:defPPr>
          </a:lstStyle>
          <a:p xmlns:a="http://schemas.openxmlformats.org/drawingml/2006/main">
            <a:pPr algn="l">
              <a:lnSpc>
                <a:spcPct val="112000"/>
              </a:lnSpc>
              <a:buNone/>
              <a:defRPr sz="1950" b="0">
                <a:solidFill>
                  <a:srgbClr val="F2F6F8"/>
                </a:solidFill>
                <a:latin typeface="Nimbus Sans"/>
                <a:ea typeface="Nimbus Sans"/>
                <a:cs typeface="Nimbus Sans"/>
              </a:defRPr>
            </a:pPr>
            <a:r>
              <a:rPr sz="1950" b="0">
                <a:solidFill>
                  <a:srgbClr val="F2F6F8"/>
                </a:solidFill>
                <a:latin typeface="Nimbus Sans"/>
                <a:ea typeface="Nimbus Sans"/>
                <a:cs typeface="Nimbus Sans"/>
              </a:rPr>
              <a:t>C = 1</a:t>
            </a:r>
          </a:p>
          <a:p xmlns:a="http://schemas.openxmlformats.org/drawingml/2006/main">
            <a:pPr algn="l">
              <a:lnSpc>
                <a:spcPct val="112000"/>
              </a:lnSpc>
              <a:buNone/>
              <a:defRPr sz="1950" b="0">
                <a:solidFill>
                  <a:srgbClr val="F2F6F8"/>
                </a:solidFill>
                <a:latin typeface="Nimbus Sans"/>
                <a:ea typeface="Nimbus Sans"/>
                <a:cs typeface="Nimbus Sans"/>
              </a:defRPr>
            </a:pPr>
            <a:r>
              <a:rPr sz="1950" b="0">
                <a:solidFill>
                  <a:srgbClr val="F2F6F8"/>
                </a:solidFill>
                <a:latin typeface="Nimbus Sans"/>
                <a:ea typeface="Nimbus Sans"/>
                <a:cs typeface="Nimbus Sans"/>
              </a:rPr>
              <a:t>Balanced weights</a:t>
            </a:r>
          </a:p>
        </p:txBody>
      </p:sp>
      <p:sp>
        <p:nvSpPr>
          <p:cNvPr id="8" name="0.6737">
            <a:extLst xmlns:a="http://schemas.openxmlformats.org/drawingml/2006/main">
              <a:ext uri="{FF2B5EF4-FFF2-40B4-BE49-F238E27FC236}">
                <a16:creationId xmlns:a16="http://schemas.microsoft.com/office/drawing/2014/main" id="{1C19625A-DA59-404E-AC99-63FA53FAC348}"/>
              </a:ext>
            </a:extLst>
          </p:cNvPr>
          <p:cNvSpPr>
            <a:spLocks xmlns:a="http://schemas.openxmlformats.org/drawingml/2006/main" noGrp="1"/>
          </p:cNvSpPr>
          <p:nvPr/>
        </p:nvSpPr>
        <p:spPr>
          <a:xfrm xmlns:a="http://schemas.openxmlformats.org/drawingml/2006/main">
            <a:off x="9486900" y="4629150"/>
            <a:ext cx="2095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2F6F8"/>
                </a:solidFill>
                <a:latin typeface="Nimbus Sans"/>
                <a:ea typeface="Nimbus Sans"/>
                <a:cs typeface="Nimbus Sans"/>
              </a:defRPr>
            </a:defPPr>
          </a:lstStyle>
          <a:p xmlns:a="http://schemas.openxmlformats.org/drawingml/2006/main">
            <a:pPr algn="l">
              <a:lnSpc>
                <a:spcPct val="112000"/>
              </a:lnSpc>
              <a:buNone/>
              <a:defRPr sz="3600" b="1">
                <a:solidFill>
                  <a:srgbClr val="F2F6F8"/>
                </a:solidFill>
                <a:latin typeface="Nimbus Sans"/>
                <a:ea typeface="Nimbus Sans"/>
                <a:cs typeface="Nimbus Sans"/>
              </a:defRPr>
            </a:pPr>
            <a:r>
              <a:rPr sz="3600" b="1">
                <a:solidFill>
                  <a:srgbClr val="F2F6F8"/>
                </a:solidFill>
                <a:latin typeface="Nimbus Sans"/>
                <a:ea typeface="Nimbus Sans"/>
                <a:cs typeface="Nimbus Sans"/>
              </a:rPr>
              <a:t>0.6737</a:t>
            </a:r>
          </a:p>
        </p:txBody>
      </p:sp>
      <p:sp>
        <p:nvSpPr>
          <p:cNvPr id="9" name="Chosen before test evaluation. The lead over ">
            <a:extLst xmlns:a="http://schemas.openxmlformats.org/drawingml/2006/main">
              <a:ext uri="{FF2B5EF4-FFF2-40B4-BE49-F238E27FC236}">
                <a16:creationId xmlns:a16="http://schemas.microsoft.com/office/drawing/2014/main" id="{ED0331A3-CA57-45BF-B524-27BEE1891889}"/>
              </a:ext>
            </a:extLst>
          </p:cNvPr>
          <p:cNvSpPr>
            <a:spLocks xmlns:a="http://schemas.openxmlformats.org/drawingml/2006/main" noGrp="1"/>
          </p:cNvSpPr>
          <p:nvPr/>
        </p:nvSpPr>
        <p:spPr>
          <a:xfrm xmlns:a="http://schemas.openxmlformats.org/drawingml/2006/main">
            <a:off x="609600" y="60483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EC0CD"/>
                </a:solidFill>
                <a:latin typeface="Nimbus Sans"/>
                <a:ea typeface="Nimbus Sans"/>
                <a:cs typeface="Nimbus Sans"/>
              </a:defRPr>
            </a:defPPr>
          </a:lstStyle>
          <a:p xmlns:a="http://schemas.openxmlformats.org/drawingml/2006/main">
            <a:pPr algn="l">
              <a:lnSpc>
                <a:spcPct val="112000"/>
              </a:lnSpc>
              <a:buNone/>
              <a:defRPr sz="1875" b="0">
                <a:solidFill>
                  <a:srgbClr val="AEC0CD"/>
                </a:solidFill>
                <a:latin typeface="Nimbus Sans"/>
                <a:ea typeface="Nimbus Sans"/>
                <a:cs typeface="Nimbus Sans"/>
              </a:defRPr>
            </a:pPr>
            <a:r>
              <a:rPr sz="1875" b="0">
                <a:solidFill>
                  <a:srgbClr val="AEC0CD"/>
                </a:solidFill>
                <a:latin typeface="Nimbus Sans"/>
                <a:ea typeface="Nimbus Sans"/>
                <a:cs typeface="Nimbus Sans"/>
              </a:rPr>
              <a:t>Chosen before test evaluation. The lead over SVM C=0.5 is small.</a:t>
            </a:r>
          </a:p>
        </p:txBody>
      </p:sp>
    </p:spTree>
    <p:extLst>
      <p:ext uri="{BB962C8B-B14F-4D97-AF65-F5344CB8AC3E}">
        <p14:creationId xmlns:p14="http://schemas.microsoft.com/office/powerpoint/2010/main" val="1223032283"/>
      </p:ext>
    </p:extLst>
  </p:cSld>
</p:sld>
</file>

<file path=ppt/slides/slide6.xml><?xml version="1.0" encoding="utf-8"?>
<p:sld xmlns:p="http://schemas.openxmlformats.org/presentationml/2006/main">
  <p:cSld>
    <p:bg>
      <p:bgPr>
        <a:solidFill xmlns:a="http://schemas.openxmlformats.org/drawingml/2006/main">
          <a:srgbClr val="081620"/>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7CD0A1EC-1081-419E-A600-A627A1A5AA93}"/>
              </a:ext>
            </a:extLst>
          </p:cNvPr>
          <p:cNvSpPr>
            <a:spLocks xmlns:a="http://schemas.openxmlformats.org/drawingml/2006/main" noGrp="1"/>
          </p:cNvSpPr>
          <p:nvPr/>
        </p:nvSpPr>
        <p:spPr>
          <a:xfrm xmlns:a="http://schemas.openxmlformats.org/drawingml/2006/main">
            <a:off x="609600" y="5524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2F6F8"/>
                </a:solidFill>
                <a:latin typeface="Nimbus Sans"/>
                <a:ea typeface="Nimbus Sans"/>
                <a:cs typeface="Nimbus Sans"/>
              </a:defRPr>
            </a:defPPr>
          </a:lstStyle>
          <a:p xmlns:a="http://schemas.openxmlformats.org/drawingml/2006/main">
            <a:pPr algn="l">
              <a:lnSpc>
                <a:spcPct val="112000"/>
              </a:lnSpc>
              <a:buNone/>
              <a:defRPr sz="3150" b="1">
                <a:solidFill>
                  <a:srgbClr val="F2F6F8"/>
                </a:solidFill>
                <a:latin typeface="Nimbus Sans"/>
                <a:ea typeface="Nimbus Sans"/>
                <a:cs typeface="Nimbus Sans"/>
              </a:defRPr>
            </a:pPr>
            <a:r>
              <a:rPr sz="3150" b="1">
                <a:solidFill>
                  <a:srgbClr val="F2F6F8"/>
                </a:solidFill>
                <a:latin typeface="Nimbus Sans"/>
                <a:ea typeface="Nimbus Sans"/>
                <a:cs typeface="Nimbus Sans"/>
              </a:rPr>
              <a:t>Held-out test performance</a:t>
            </a:r>
          </a:p>
        </p:txBody>
      </p:sp>
      <p:sp>
        <p:nvSpPr>
          <p:cNvPr id="2" name="slide-number">
            <a:extLst xmlns:a="http://schemas.openxmlformats.org/drawingml/2006/main">
              <a:ext uri="{FF2B5EF4-FFF2-40B4-BE49-F238E27FC236}">
                <a16:creationId xmlns:a16="http://schemas.microsoft.com/office/drawing/2014/main" id="{A168A1F6-F487-4F17-8BC3-CE74031AA436}"/>
              </a:ext>
            </a:extLst>
          </p:cNvPr>
          <p:cNvSpPr>
            <a:spLocks xmlns:a="http://schemas.openxmlformats.org/drawingml/2006/main" noGrp="1"/>
          </p:cNvSpPr>
          <p:nvPr/>
        </p:nvSpPr>
        <p:spPr>
          <a:xfrm xmlns:a="http://schemas.openxmlformats.org/drawingml/2006/main">
            <a:off x="10668000" y="64008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D"/>
                </a:solidFill>
                <a:latin typeface="Nimbus Sans"/>
                <a:ea typeface="Nimbus Sans"/>
                <a:cs typeface="Nimbus Sans"/>
              </a:defRPr>
            </a:defPPr>
          </a:lstStyle>
          <a:p xmlns:a="http://schemas.openxmlformats.org/drawingml/2006/main">
            <a:pPr algn="r">
              <a:lnSpc>
                <a:spcPct val="112000"/>
              </a:lnSpc>
              <a:buNone/>
              <a:defRPr sz="1350" b="0">
                <a:solidFill>
                  <a:srgbClr val="AEC0CD"/>
                </a:solidFill>
                <a:latin typeface="Nimbus Sans"/>
                <a:ea typeface="Nimbus Sans"/>
                <a:cs typeface="Nimbus Sans"/>
              </a:defRPr>
            </a:pPr>
            <a:r>
              <a:rPr sz="1350" b="0">
                <a:solidFill>
                  <a:srgbClr val="AEC0CD"/>
                </a:solidFill>
                <a:latin typeface="Nimbus Sans"/>
                <a:ea typeface="Nimbus Sans"/>
                <a:cs typeface="Nimbus Sans"/>
              </a:rPr>
              <a:t>06 / 10</a:t>
            </a:r>
          </a:p>
        </p:txBody>
      </p:sp>
      <p:sp>
        <p:nvSpPr>
          <p:cNvPr id="3" name="88.90%">
            <a:extLst xmlns:a="http://schemas.openxmlformats.org/drawingml/2006/main">
              <a:ext uri="{FF2B5EF4-FFF2-40B4-BE49-F238E27FC236}">
                <a16:creationId xmlns:a16="http://schemas.microsoft.com/office/drawing/2014/main" id="{8E1AFF26-AD06-4F20-8993-39AF090388F8}"/>
              </a:ext>
            </a:extLst>
          </p:cNvPr>
          <p:cNvSpPr>
            <a:spLocks xmlns:a="http://schemas.openxmlformats.org/drawingml/2006/main" noGrp="1"/>
          </p:cNvSpPr>
          <p:nvPr/>
        </p:nvSpPr>
        <p:spPr>
          <a:xfrm xmlns:a="http://schemas.openxmlformats.org/drawingml/2006/main">
            <a:off x="609600" y="1419225"/>
            <a:ext cx="320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42CCB9"/>
                </a:solidFill>
                <a:latin typeface="Nimbus Sans"/>
                <a:ea typeface="Nimbus Sans"/>
                <a:cs typeface="Nimbus Sans"/>
              </a:defRPr>
            </a:defPPr>
          </a:lstStyle>
          <a:p xmlns:a="http://schemas.openxmlformats.org/drawingml/2006/main">
            <a:pPr algn="l">
              <a:lnSpc>
                <a:spcPct val="112000"/>
              </a:lnSpc>
              <a:buNone/>
              <a:defRPr sz="4800" b="1">
                <a:solidFill>
                  <a:srgbClr val="42CCB9"/>
                </a:solidFill>
                <a:latin typeface="Nimbus Sans"/>
                <a:ea typeface="Nimbus Sans"/>
                <a:cs typeface="Nimbus Sans"/>
              </a:defRPr>
            </a:pPr>
            <a:r>
              <a:rPr sz="4800" b="1">
                <a:solidFill>
                  <a:srgbClr val="42CCB9"/>
                </a:solidFill>
                <a:latin typeface="Nimbus Sans"/>
                <a:ea typeface="Nimbus Sans"/>
                <a:cs typeface="Nimbus Sans"/>
              </a:rPr>
              <a:t>88.90%</a:t>
            </a:r>
          </a:p>
        </p:txBody>
      </p:sp>
      <p:sp>
        <p:nvSpPr>
          <p:cNvPr id="4" name="Accuracy">
            <a:extLst xmlns:a="http://schemas.openxmlformats.org/drawingml/2006/main">
              <a:ext uri="{FF2B5EF4-FFF2-40B4-BE49-F238E27FC236}">
                <a16:creationId xmlns:a16="http://schemas.microsoft.com/office/drawing/2014/main" id="{770B9788-1C76-49B1-BC0E-132C5B26076F}"/>
              </a:ext>
            </a:extLst>
          </p:cNvPr>
          <p:cNvSpPr>
            <a:spLocks xmlns:a="http://schemas.openxmlformats.org/drawingml/2006/main" noGrp="1"/>
          </p:cNvSpPr>
          <p:nvPr/>
        </p:nvSpPr>
        <p:spPr>
          <a:xfrm xmlns:a="http://schemas.openxmlformats.org/drawingml/2006/main">
            <a:off x="609600" y="2266950"/>
            <a:ext cx="320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AEC0CD"/>
                </a:solidFill>
                <a:latin typeface="Nimbus Sans"/>
                <a:ea typeface="Nimbus Sans"/>
                <a:cs typeface="Nimbus Sans"/>
              </a:defRPr>
            </a:defPPr>
          </a:lstStyle>
          <a:p xmlns:a="http://schemas.openxmlformats.org/drawingml/2006/main">
            <a:pPr algn="l">
              <a:lnSpc>
                <a:spcPct val="112000"/>
              </a:lnSpc>
              <a:buNone/>
              <a:defRPr sz="1950" b="0">
                <a:solidFill>
                  <a:srgbClr val="AEC0CD"/>
                </a:solidFill>
                <a:latin typeface="Nimbus Sans"/>
                <a:ea typeface="Nimbus Sans"/>
                <a:cs typeface="Nimbus Sans"/>
              </a:defRPr>
            </a:pPr>
            <a:r>
              <a:rPr sz="1950" b="0">
                <a:solidFill>
                  <a:srgbClr val="AEC0CD"/>
                </a:solidFill>
                <a:latin typeface="Nimbus Sans"/>
                <a:ea typeface="Nimbus Sans"/>
                <a:cs typeface="Nimbus Sans"/>
              </a:rPr>
              <a:t>Accuracy</a:t>
            </a:r>
          </a:p>
        </p:txBody>
      </p:sp>
      <p:sp>
        <p:nvSpPr>
          <p:cNvPr id="5" name="0.8842">
            <a:extLst xmlns:a="http://schemas.openxmlformats.org/drawingml/2006/main">
              <a:ext uri="{FF2B5EF4-FFF2-40B4-BE49-F238E27FC236}">
                <a16:creationId xmlns:a16="http://schemas.microsoft.com/office/drawing/2014/main" id="{98FAB5F4-8951-4CE2-ADD0-3858FBD0D752}"/>
              </a:ext>
            </a:extLst>
          </p:cNvPr>
          <p:cNvSpPr>
            <a:spLocks xmlns:a="http://schemas.openxmlformats.org/drawingml/2006/main" noGrp="1"/>
          </p:cNvSpPr>
          <p:nvPr/>
        </p:nvSpPr>
        <p:spPr>
          <a:xfrm xmlns:a="http://schemas.openxmlformats.org/drawingml/2006/main">
            <a:off x="4495800" y="1419225"/>
            <a:ext cx="320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E4BC79"/>
                </a:solidFill>
                <a:latin typeface="Nimbus Sans"/>
                <a:ea typeface="Nimbus Sans"/>
                <a:cs typeface="Nimbus Sans"/>
              </a:defRPr>
            </a:defPPr>
          </a:lstStyle>
          <a:p xmlns:a="http://schemas.openxmlformats.org/drawingml/2006/main">
            <a:pPr algn="l">
              <a:lnSpc>
                <a:spcPct val="112000"/>
              </a:lnSpc>
              <a:buNone/>
              <a:defRPr sz="4800" b="1">
                <a:solidFill>
                  <a:srgbClr val="E4BC79"/>
                </a:solidFill>
                <a:latin typeface="Nimbus Sans"/>
                <a:ea typeface="Nimbus Sans"/>
                <a:cs typeface="Nimbus Sans"/>
              </a:defRPr>
            </a:pPr>
            <a:r>
              <a:rPr sz="4800" b="1">
                <a:solidFill>
                  <a:srgbClr val="E4BC79"/>
                </a:solidFill>
                <a:latin typeface="Nimbus Sans"/>
                <a:ea typeface="Nimbus Sans"/>
                <a:cs typeface="Nimbus Sans"/>
              </a:rPr>
              <a:t>0.8842</a:t>
            </a:r>
          </a:p>
        </p:txBody>
      </p:sp>
      <p:sp>
        <p:nvSpPr>
          <p:cNvPr id="6" name="Weighted-F1">
            <a:extLst xmlns:a="http://schemas.openxmlformats.org/drawingml/2006/main">
              <a:ext uri="{FF2B5EF4-FFF2-40B4-BE49-F238E27FC236}">
                <a16:creationId xmlns:a16="http://schemas.microsoft.com/office/drawing/2014/main" id="{F84A00F8-5A12-4854-BC7B-5C729CAA39A9}"/>
              </a:ext>
            </a:extLst>
          </p:cNvPr>
          <p:cNvSpPr>
            <a:spLocks xmlns:a="http://schemas.openxmlformats.org/drawingml/2006/main" noGrp="1"/>
          </p:cNvSpPr>
          <p:nvPr/>
        </p:nvSpPr>
        <p:spPr>
          <a:xfrm xmlns:a="http://schemas.openxmlformats.org/drawingml/2006/main">
            <a:off x="4495800" y="2266950"/>
            <a:ext cx="320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AEC0CD"/>
                </a:solidFill>
                <a:latin typeface="Nimbus Sans"/>
                <a:ea typeface="Nimbus Sans"/>
                <a:cs typeface="Nimbus Sans"/>
              </a:defRPr>
            </a:defPPr>
          </a:lstStyle>
          <a:p xmlns:a="http://schemas.openxmlformats.org/drawingml/2006/main">
            <a:pPr algn="l">
              <a:lnSpc>
                <a:spcPct val="112000"/>
              </a:lnSpc>
              <a:buNone/>
              <a:defRPr sz="1950" b="0">
                <a:solidFill>
                  <a:srgbClr val="AEC0CD"/>
                </a:solidFill>
                <a:latin typeface="Nimbus Sans"/>
                <a:ea typeface="Nimbus Sans"/>
                <a:cs typeface="Nimbus Sans"/>
              </a:defRPr>
            </a:pPr>
            <a:r>
              <a:rPr sz="1950" b="0">
                <a:solidFill>
                  <a:srgbClr val="AEC0CD"/>
                </a:solidFill>
                <a:latin typeface="Nimbus Sans"/>
                <a:ea typeface="Nimbus Sans"/>
                <a:cs typeface="Nimbus Sans"/>
              </a:rPr>
              <a:t>Weighted-F1</a:t>
            </a:r>
          </a:p>
        </p:txBody>
      </p:sp>
      <p:sp>
        <p:nvSpPr>
          <p:cNvPr id="7" name="0.6834">
            <a:extLst xmlns:a="http://schemas.openxmlformats.org/drawingml/2006/main">
              <a:ext uri="{FF2B5EF4-FFF2-40B4-BE49-F238E27FC236}">
                <a16:creationId xmlns:a16="http://schemas.microsoft.com/office/drawing/2014/main" id="{C7DEDC37-142B-43FA-9108-5FEFDE6D0B2F}"/>
              </a:ext>
            </a:extLst>
          </p:cNvPr>
          <p:cNvSpPr>
            <a:spLocks xmlns:a="http://schemas.openxmlformats.org/drawingml/2006/main" noGrp="1"/>
          </p:cNvSpPr>
          <p:nvPr/>
        </p:nvSpPr>
        <p:spPr>
          <a:xfrm xmlns:a="http://schemas.openxmlformats.org/drawingml/2006/main">
            <a:off x="8382000" y="1419225"/>
            <a:ext cx="320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73AAD7"/>
                </a:solidFill>
                <a:latin typeface="Nimbus Sans"/>
                <a:ea typeface="Nimbus Sans"/>
                <a:cs typeface="Nimbus Sans"/>
              </a:defRPr>
            </a:defPPr>
          </a:lstStyle>
          <a:p xmlns:a="http://schemas.openxmlformats.org/drawingml/2006/main">
            <a:pPr algn="l">
              <a:lnSpc>
                <a:spcPct val="112000"/>
              </a:lnSpc>
              <a:buNone/>
              <a:defRPr sz="4800" b="1">
                <a:solidFill>
                  <a:srgbClr val="73AAD7"/>
                </a:solidFill>
                <a:latin typeface="Nimbus Sans"/>
                <a:ea typeface="Nimbus Sans"/>
                <a:cs typeface="Nimbus Sans"/>
              </a:defRPr>
            </a:pPr>
            <a:r>
              <a:rPr sz="4800" b="1">
                <a:solidFill>
                  <a:srgbClr val="73AAD7"/>
                </a:solidFill>
                <a:latin typeface="Nimbus Sans"/>
                <a:ea typeface="Nimbus Sans"/>
                <a:cs typeface="Nimbus Sans"/>
              </a:rPr>
              <a:t>0.6834</a:t>
            </a:r>
          </a:p>
        </p:txBody>
      </p:sp>
      <p:sp>
        <p:nvSpPr>
          <p:cNvPr id="8" name="Macro-F1">
            <a:extLst xmlns:a="http://schemas.openxmlformats.org/drawingml/2006/main">
              <a:ext uri="{FF2B5EF4-FFF2-40B4-BE49-F238E27FC236}">
                <a16:creationId xmlns:a16="http://schemas.microsoft.com/office/drawing/2014/main" id="{25DB8349-D1D7-4CD1-BD6F-8E8F9A0291CB}"/>
              </a:ext>
            </a:extLst>
          </p:cNvPr>
          <p:cNvSpPr>
            <a:spLocks xmlns:a="http://schemas.openxmlformats.org/drawingml/2006/main" noGrp="1"/>
          </p:cNvSpPr>
          <p:nvPr/>
        </p:nvSpPr>
        <p:spPr>
          <a:xfrm xmlns:a="http://schemas.openxmlformats.org/drawingml/2006/main">
            <a:off x="8382000" y="2266950"/>
            <a:ext cx="320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AEC0CD"/>
                </a:solidFill>
                <a:latin typeface="Nimbus Sans"/>
                <a:ea typeface="Nimbus Sans"/>
                <a:cs typeface="Nimbus Sans"/>
              </a:defRPr>
            </a:defPPr>
          </a:lstStyle>
          <a:p xmlns:a="http://schemas.openxmlformats.org/drawingml/2006/main">
            <a:pPr algn="l">
              <a:lnSpc>
                <a:spcPct val="112000"/>
              </a:lnSpc>
              <a:buNone/>
              <a:defRPr sz="1950" b="0">
                <a:solidFill>
                  <a:srgbClr val="AEC0CD"/>
                </a:solidFill>
                <a:latin typeface="Nimbus Sans"/>
                <a:ea typeface="Nimbus Sans"/>
                <a:cs typeface="Nimbus Sans"/>
              </a:defRPr>
            </a:pPr>
            <a:r>
              <a:rPr sz="1950" b="0">
                <a:solidFill>
                  <a:srgbClr val="AEC0CD"/>
                </a:solidFill>
                <a:latin typeface="Nimbus Sans"/>
                <a:ea typeface="Nimbus Sans"/>
                <a:cs typeface="Nimbus Sans"/>
              </a:rPr>
              <a:t>Macro-F1</a:t>
            </a:r>
          </a:p>
        </p:txBody>
      </p:sp>
      <p:graphicFrame>
        <p:nvGraphicFramePr>
          <p:cNvPr id="9" name="Chart">
            <a:extLst xmlns:a="http://schemas.openxmlformats.org/drawingml/2006/main">
              <a:ext uri="{FF2B5EF4-FFF2-40B4-BE49-F238E27FC236}">
                <a16:creationId xmlns:a16="http://schemas.microsoft.com/office/drawing/2014/main" id="{AE500B51-EFA0-43DA-9F8A-5FA97F15B5B9}"/>
              </a:ext>
            </a:extLst>
          </p:cNvPr>
          <p:cNvGraphicFramePr/>
          <p:nvPr/>
        </p:nvGraphicFramePr>
        <p:xfrm>
          <a:off xmlns:a="http://schemas.openxmlformats.org/drawingml/2006/main" x="609600" y="3114675"/>
          <a:ext xmlns:a="http://schemas.openxmlformats.org/drawingml/2006/main" cx="6267450" cy="2581275"/>
        </p:xfrm>
        <a:graphic xmlns:a="http://schemas.openxmlformats.org/drawingml/2006/main">
          <a:graphicData uri="http://schemas.openxmlformats.org/drawingml/2006/chart">
            <c:chart xmlns:r="http://schemas.openxmlformats.org/officeDocument/2006/relationships" xmlns:c="http://schemas.openxmlformats.org/drawingml/2006/chart" r:id="R8f8b2afc171e4209"/>
          </a:graphicData>
        </a:graphic>
      </p:graphicFrame>
      <p:sp>
        <p:nvSpPr>
          <p:cNvPr id="10" name="673 correct">
            <a:extLst xmlns:a="http://schemas.openxmlformats.org/drawingml/2006/main">
              <a:ext uri="{FF2B5EF4-FFF2-40B4-BE49-F238E27FC236}">
                <a16:creationId xmlns:a16="http://schemas.microsoft.com/office/drawing/2014/main" id="{FF961D73-0174-4A46-ADB9-2B599CDD5007}"/>
              </a:ext>
            </a:extLst>
          </p:cNvPr>
          <p:cNvSpPr>
            <a:spLocks xmlns:a="http://schemas.openxmlformats.org/drawingml/2006/main" noGrp="1"/>
          </p:cNvSpPr>
          <p:nvPr/>
        </p:nvSpPr>
        <p:spPr>
          <a:xfrm xmlns:a="http://schemas.openxmlformats.org/drawingml/2006/main">
            <a:off x="7753350" y="3352800"/>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2F6F8"/>
                </a:solidFill>
                <a:latin typeface="Nimbus Sans"/>
                <a:ea typeface="Nimbus Sans"/>
                <a:cs typeface="Nimbus Sans"/>
              </a:defRPr>
            </a:defPPr>
          </a:lstStyle>
          <a:p xmlns:a="http://schemas.openxmlformats.org/drawingml/2006/main">
            <a:pPr algn="l">
              <a:lnSpc>
                <a:spcPct val="112000"/>
              </a:lnSpc>
              <a:buNone/>
              <a:defRPr sz="2850" b="1">
                <a:solidFill>
                  <a:srgbClr val="F2F6F8"/>
                </a:solidFill>
                <a:latin typeface="Nimbus Sans"/>
                <a:ea typeface="Nimbus Sans"/>
                <a:cs typeface="Nimbus Sans"/>
              </a:defRPr>
            </a:pPr>
            <a:r>
              <a:rPr sz="2850" b="1">
                <a:solidFill>
                  <a:srgbClr val="F2F6F8"/>
                </a:solidFill>
                <a:latin typeface="Nimbus Sans"/>
                <a:ea typeface="Nimbus Sans"/>
                <a:cs typeface="Nimbus Sans"/>
              </a:rPr>
              <a:t>673 correct</a:t>
            </a:r>
          </a:p>
        </p:txBody>
      </p:sp>
      <p:sp>
        <p:nvSpPr>
          <p:cNvPr id="11" name="84 errors in 757 complaints">
            <a:extLst xmlns:a="http://schemas.openxmlformats.org/drawingml/2006/main">
              <a:ext uri="{FF2B5EF4-FFF2-40B4-BE49-F238E27FC236}">
                <a16:creationId xmlns:a16="http://schemas.microsoft.com/office/drawing/2014/main" id="{63108530-6D1B-42AA-B9E5-9527E93F0157}"/>
              </a:ext>
            </a:extLst>
          </p:cNvPr>
          <p:cNvSpPr>
            <a:spLocks xmlns:a="http://schemas.openxmlformats.org/drawingml/2006/main" noGrp="1"/>
          </p:cNvSpPr>
          <p:nvPr/>
        </p:nvSpPr>
        <p:spPr>
          <a:xfrm xmlns:a="http://schemas.openxmlformats.org/drawingml/2006/main">
            <a:off x="7753350" y="406717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C0CD"/>
                </a:solidFill>
                <a:latin typeface="Nimbus Sans"/>
                <a:ea typeface="Nimbus Sans"/>
                <a:cs typeface="Nimbus Sans"/>
              </a:defRPr>
            </a:defPPr>
          </a:lstStyle>
          <a:p xmlns:a="http://schemas.openxmlformats.org/drawingml/2006/main">
            <a:pPr algn="l">
              <a:lnSpc>
                <a:spcPct val="112000"/>
              </a:lnSpc>
              <a:buNone/>
              <a:defRPr sz="2025" b="0">
                <a:solidFill>
                  <a:srgbClr val="AEC0CD"/>
                </a:solidFill>
                <a:latin typeface="Nimbus Sans"/>
                <a:ea typeface="Nimbus Sans"/>
                <a:cs typeface="Nimbus Sans"/>
              </a:defRPr>
            </a:pPr>
            <a:r>
              <a:rPr sz="2025" b="0">
                <a:solidFill>
                  <a:srgbClr val="AEC0CD"/>
                </a:solidFill>
                <a:latin typeface="Nimbus Sans"/>
                <a:ea typeface="Nimbus Sans"/>
                <a:cs typeface="Nimbus Sans"/>
              </a:rPr>
              <a:t>84 errors in 757 complaints</a:t>
            </a:r>
          </a:p>
        </p:txBody>
      </p:sp>
      <p:sp>
        <p:nvSpPr>
          <p:cNvPr id="12" name="95% bootstrap accuracy interval&#10;86.66% to 91.">
            <a:extLst xmlns:a="http://schemas.openxmlformats.org/drawingml/2006/main">
              <a:ext uri="{FF2B5EF4-FFF2-40B4-BE49-F238E27FC236}">
                <a16:creationId xmlns:a16="http://schemas.microsoft.com/office/drawing/2014/main" id="{996DDAFF-DA98-4063-AF2E-3271742A06A8}"/>
              </a:ext>
            </a:extLst>
          </p:cNvPr>
          <p:cNvSpPr>
            <a:spLocks xmlns:a="http://schemas.openxmlformats.org/drawingml/2006/main" noGrp="1"/>
          </p:cNvSpPr>
          <p:nvPr/>
        </p:nvSpPr>
        <p:spPr>
          <a:xfrm xmlns:a="http://schemas.openxmlformats.org/drawingml/2006/main">
            <a:off x="7753350" y="4857750"/>
            <a:ext cx="38290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2F6F8"/>
                </a:solidFill>
                <a:latin typeface="Nimbus Sans"/>
                <a:ea typeface="Nimbus Sans"/>
                <a:cs typeface="Nimbus Sans"/>
              </a:defRPr>
            </a:defPPr>
          </a:lstStyle>
          <a:p xmlns:a="http://schemas.openxmlformats.org/drawingml/2006/main">
            <a:pPr algn="l">
              <a:lnSpc>
                <a:spcPct val="112000"/>
              </a:lnSpc>
              <a:buNone/>
              <a:defRPr sz="2025" b="0">
                <a:solidFill>
                  <a:srgbClr val="F2F6F8"/>
                </a:solidFill>
                <a:latin typeface="Nimbus Sans"/>
                <a:ea typeface="Nimbus Sans"/>
                <a:cs typeface="Nimbus Sans"/>
              </a:defRPr>
            </a:pPr>
            <a:r>
              <a:rPr sz="2025" b="0">
                <a:solidFill>
                  <a:srgbClr val="F2F6F8"/>
                </a:solidFill>
                <a:latin typeface="Nimbus Sans"/>
                <a:ea typeface="Nimbus Sans"/>
                <a:cs typeface="Nimbus Sans"/>
              </a:rPr>
              <a:t>95% bootstrap accuracy interval</a:t>
            </a:r>
          </a:p>
          <a:p xmlns:a="http://schemas.openxmlformats.org/drawingml/2006/main">
            <a:pPr algn="l">
              <a:lnSpc>
                <a:spcPct val="112000"/>
              </a:lnSpc>
              <a:buNone/>
              <a:defRPr sz="2025" b="0">
                <a:solidFill>
                  <a:srgbClr val="F2F6F8"/>
                </a:solidFill>
                <a:latin typeface="Nimbus Sans"/>
                <a:ea typeface="Nimbus Sans"/>
                <a:cs typeface="Nimbus Sans"/>
              </a:defRPr>
            </a:pPr>
            <a:r>
              <a:rPr sz="2025" b="0">
                <a:solidFill>
                  <a:srgbClr val="F2F6F8"/>
                </a:solidFill>
                <a:latin typeface="Nimbus Sans"/>
                <a:ea typeface="Nimbus Sans"/>
                <a:cs typeface="Nimbus Sans"/>
              </a:rPr>
              <a:t>86.66% to 91.02%</a:t>
            </a:r>
          </a:p>
        </p:txBody>
      </p:sp>
      <p:sp>
        <p:nvSpPr>
          <p:cNvPr id="13" name="The test set measures performance within this">
            <a:extLst xmlns:a="http://schemas.openxmlformats.org/drawingml/2006/main">
              <a:ext uri="{FF2B5EF4-FFF2-40B4-BE49-F238E27FC236}">
                <a16:creationId xmlns:a16="http://schemas.microsoft.com/office/drawing/2014/main" id="{C6E0281E-7D96-45A4-AA15-9013D2EB1ACA}"/>
              </a:ext>
            </a:extLst>
          </p:cNvPr>
          <p:cNvSpPr>
            <a:spLocks xmlns:a="http://schemas.openxmlformats.org/drawingml/2006/main" noGrp="1"/>
          </p:cNvSpPr>
          <p:nvPr/>
        </p:nvSpPr>
        <p:spPr>
          <a:xfrm xmlns:a="http://schemas.openxmlformats.org/drawingml/2006/main">
            <a:off x="609600" y="60864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EC0CD"/>
                </a:solidFill>
                <a:latin typeface="Nimbus Sans"/>
                <a:ea typeface="Nimbus Sans"/>
                <a:cs typeface="Nimbus Sans"/>
              </a:defRPr>
            </a:defPPr>
          </a:lstStyle>
          <a:p xmlns:a="http://schemas.openxmlformats.org/drawingml/2006/main">
            <a:pPr algn="l">
              <a:lnSpc>
                <a:spcPct val="112000"/>
              </a:lnSpc>
              <a:buNone/>
              <a:defRPr sz="1875" b="0">
                <a:solidFill>
                  <a:srgbClr val="AEC0CD"/>
                </a:solidFill>
                <a:latin typeface="Nimbus Sans"/>
                <a:ea typeface="Nimbus Sans"/>
                <a:cs typeface="Nimbus Sans"/>
              </a:defRPr>
            </a:pPr>
            <a:r>
              <a:rPr sz="1875" b="0">
                <a:solidFill>
                  <a:srgbClr val="AEC0CD"/>
                </a:solidFill>
                <a:latin typeface="Nimbus Sans"/>
                <a:ea typeface="Nimbus Sans"/>
                <a:cs typeface="Nimbus Sans"/>
              </a:rPr>
              <a:t>The test set measures performance within this fixed snapshot.</a:t>
            </a:r>
          </a:p>
        </p:txBody>
      </p:sp>
    </p:spTree>
    <p:extLst>
      <p:ext uri="{BB962C8B-B14F-4D97-AF65-F5344CB8AC3E}">
        <p14:creationId xmlns:p14="http://schemas.microsoft.com/office/powerpoint/2010/main" val="992537859"/>
      </p:ext>
    </p:extLst>
  </p:cSld>
</p:sld>
</file>

<file path=ppt/slides/slide7.xml><?xml version="1.0" encoding="utf-8"?>
<p:sld xmlns:p="http://schemas.openxmlformats.org/presentationml/2006/main">
  <p:cSld>
    <p:bg>
      <p:bgPr>
        <a:solidFill xmlns:a="http://schemas.openxmlformats.org/drawingml/2006/main">
          <a:srgbClr val="08162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279334C3-C1A8-48D6-B225-B4D488DB9B87}"/>
              </a:ext>
            </a:extLst>
          </p:cNvPr>
          <p:cNvSpPr>
            <a:spLocks xmlns:a="http://schemas.openxmlformats.org/drawingml/2006/main" noGrp="1"/>
          </p:cNvSpPr>
          <p:nvPr/>
        </p:nvSpPr>
        <p:spPr>
          <a:xfrm xmlns:a="http://schemas.openxmlformats.org/drawingml/2006/main">
            <a:off x="609600" y="5524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2F6F8"/>
                </a:solidFill>
                <a:latin typeface="Nimbus Sans"/>
                <a:ea typeface="Nimbus Sans"/>
                <a:cs typeface="Nimbus Sans"/>
              </a:defRPr>
            </a:defPPr>
          </a:lstStyle>
          <a:p xmlns:a="http://schemas.openxmlformats.org/drawingml/2006/main">
            <a:pPr algn="l">
              <a:lnSpc>
                <a:spcPct val="112000"/>
              </a:lnSpc>
              <a:buNone/>
              <a:defRPr sz="3150" b="1">
                <a:solidFill>
                  <a:srgbClr val="F2F6F8"/>
                </a:solidFill>
                <a:latin typeface="Nimbus Sans"/>
                <a:ea typeface="Nimbus Sans"/>
                <a:cs typeface="Nimbus Sans"/>
              </a:defRPr>
            </a:pPr>
            <a:r>
              <a:rPr sz="3150" b="1">
                <a:solidFill>
                  <a:srgbClr val="F2F6F8"/>
                </a:solidFill>
                <a:latin typeface="Nimbus Sans"/>
                <a:ea typeface="Nimbus Sans"/>
                <a:cs typeface="Nimbus Sans"/>
              </a:rPr>
              <a:t>Class imbalance and product performance</a:t>
            </a:r>
          </a:p>
        </p:txBody>
      </p:sp>
      <p:sp>
        <p:nvSpPr>
          <p:cNvPr id="2" name="slide-number">
            <a:extLst xmlns:a="http://schemas.openxmlformats.org/drawingml/2006/main">
              <a:ext uri="{FF2B5EF4-FFF2-40B4-BE49-F238E27FC236}">
                <a16:creationId xmlns:a16="http://schemas.microsoft.com/office/drawing/2014/main" id="{A8A51FC8-DEDA-4539-9FBD-EDA952D4D3A9}"/>
              </a:ext>
            </a:extLst>
          </p:cNvPr>
          <p:cNvSpPr>
            <a:spLocks xmlns:a="http://schemas.openxmlformats.org/drawingml/2006/main" noGrp="1"/>
          </p:cNvSpPr>
          <p:nvPr/>
        </p:nvSpPr>
        <p:spPr>
          <a:xfrm xmlns:a="http://schemas.openxmlformats.org/drawingml/2006/main">
            <a:off x="10668000" y="64008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D"/>
                </a:solidFill>
                <a:latin typeface="Nimbus Sans"/>
                <a:ea typeface="Nimbus Sans"/>
                <a:cs typeface="Nimbus Sans"/>
              </a:defRPr>
            </a:defPPr>
          </a:lstStyle>
          <a:p xmlns:a="http://schemas.openxmlformats.org/drawingml/2006/main">
            <a:pPr algn="r">
              <a:lnSpc>
                <a:spcPct val="112000"/>
              </a:lnSpc>
              <a:buNone/>
              <a:defRPr sz="1350" b="0">
                <a:solidFill>
                  <a:srgbClr val="AEC0CD"/>
                </a:solidFill>
                <a:latin typeface="Nimbus Sans"/>
                <a:ea typeface="Nimbus Sans"/>
                <a:cs typeface="Nimbus Sans"/>
              </a:defRPr>
            </a:pPr>
            <a:r>
              <a:rPr sz="1350" b="0">
                <a:solidFill>
                  <a:srgbClr val="AEC0CD"/>
                </a:solidFill>
                <a:latin typeface="Nimbus Sans"/>
                <a:ea typeface="Nimbus Sans"/>
                <a:cs typeface="Nimbus Sans"/>
              </a:rPr>
              <a:t>07 / 10</a:t>
            </a:r>
          </a:p>
        </p:txBody>
      </p:sp>
      <p:sp>
        <p:nvSpPr>
          <p:cNvPr id="3" name="F1 by product. Parentheses show the test supp">
            <a:extLst xmlns:a="http://schemas.openxmlformats.org/drawingml/2006/main">
              <a:ext uri="{FF2B5EF4-FFF2-40B4-BE49-F238E27FC236}">
                <a16:creationId xmlns:a16="http://schemas.microsoft.com/office/drawing/2014/main" id="{F1FB6FFF-461E-455E-964A-065F29F7D9B6}"/>
              </a:ext>
            </a:extLst>
          </p:cNvPr>
          <p:cNvSpPr>
            <a:spLocks xmlns:a="http://schemas.openxmlformats.org/drawingml/2006/main" noGrp="1"/>
          </p:cNvSpPr>
          <p:nvPr/>
        </p:nvSpPr>
        <p:spPr>
          <a:xfrm xmlns:a="http://schemas.openxmlformats.org/drawingml/2006/main">
            <a:off x="609600" y="13049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EC0CD"/>
                </a:solidFill>
                <a:latin typeface="Nimbus Sans"/>
                <a:ea typeface="Nimbus Sans"/>
                <a:cs typeface="Nimbus Sans"/>
              </a:defRPr>
            </a:defPPr>
          </a:lstStyle>
          <a:p xmlns:a="http://schemas.openxmlformats.org/drawingml/2006/main">
            <a:pPr algn="l">
              <a:lnSpc>
                <a:spcPct val="112000"/>
              </a:lnSpc>
              <a:buNone/>
              <a:defRPr sz="1875" b="0">
                <a:solidFill>
                  <a:srgbClr val="AEC0CD"/>
                </a:solidFill>
                <a:latin typeface="Nimbus Sans"/>
                <a:ea typeface="Nimbus Sans"/>
                <a:cs typeface="Nimbus Sans"/>
              </a:defRPr>
            </a:pPr>
            <a:r>
              <a:rPr sz="1875" b="0">
                <a:solidFill>
                  <a:srgbClr val="AEC0CD"/>
                </a:solidFill>
                <a:latin typeface="Nimbus Sans"/>
                <a:ea typeface="Nimbus Sans"/>
                <a:cs typeface="Nimbus Sans"/>
              </a:rPr>
              <a:t>F1 by product. Parentheses show the test support n.</a:t>
            </a:r>
          </a:p>
        </p:txBody>
      </p:sp>
      <p:graphicFrame>
        <p:nvGraphicFramePr>
          <p:cNvPr id="4" name="Chart">
            <a:extLst xmlns:a="http://schemas.openxmlformats.org/drawingml/2006/main">
              <a:ext uri="{FF2B5EF4-FFF2-40B4-BE49-F238E27FC236}">
                <a16:creationId xmlns:a16="http://schemas.microsoft.com/office/drawing/2014/main" id="{D4CB7A7C-4FAC-4FD6-9EC3-F1028DF52716}"/>
              </a:ext>
            </a:extLst>
          </p:cNvPr>
          <p:cNvGraphicFramePr/>
          <p:nvPr/>
        </p:nvGraphicFramePr>
        <p:xfrm>
          <a:off xmlns:a="http://schemas.openxmlformats.org/drawingml/2006/main" x="609600" y="1847850"/>
          <a:ext xmlns:a="http://schemas.openxmlformats.org/drawingml/2006/main" cx="8648700" cy="4086225"/>
        </p:xfrm>
        <a:graphic xmlns:a="http://schemas.openxmlformats.org/drawingml/2006/main">
          <a:graphicData uri="http://schemas.openxmlformats.org/drawingml/2006/chart">
            <c:chart xmlns:r="http://schemas.openxmlformats.org/officeDocument/2006/relationships" xmlns:c="http://schemas.openxmlformats.org/drawingml/2006/chart" r:id="Rb0169236a91f42c3"/>
          </a:graphicData>
        </a:graphic>
      </p:graphicFrame>
      <p:sp>
        <p:nvSpPr>
          <p:cNvPr id="5" name="540 / 757">
            <a:extLst xmlns:a="http://schemas.openxmlformats.org/drawingml/2006/main">
              <a:ext uri="{FF2B5EF4-FFF2-40B4-BE49-F238E27FC236}">
                <a16:creationId xmlns:a16="http://schemas.microsoft.com/office/drawing/2014/main" id="{5DF8FDB8-8CE3-4AF0-821B-BD230B22CD92}"/>
              </a:ext>
            </a:extLst>
          </p:cNvPr>
          <p:cNvSpPr>
            <a:spLocks xmlns:a="http://schemas.openxmlformats.org/drawingml/2006/main" noGrp="1"/>
          </p:cNvSpPr>
          <p:nvPr/>
        </p:nvSpPr>
        <p:spPr>
          <a:xfrm xmlns:a="http://schemas.openxmlformats.org/drawingml/2006/main">
            <a:off x="9601200" y="2305050"/>
            <a:ext cx="2019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E4BC79"/>
                </a:solidFill>
                <a:latin typeface="Nimbus Sans"/>
                <a:ea typeface="Nimbus Sans"/>
                <a:cs typeface="Nimbus Sans"/>
              </a:defRPr>
            </a:defPPr>
          </a:lstStyle>
          <a:p xmlns:a="http://schemas.openxmlformats.org/drawingml/2006/main">
            <a:pPr algn="l">
              <a:lnSpc>
                <a:spcPct val="112000"/>
              </a:lnSpc>
              <a:buNone/>
              <a:defRPr sz="2625" b="1">
                <a:solidFill>
                  <a:srgbClr val="E4BC79"/>
                </a:solidFill>
                <a:latin typeface="Nimbus Sans"/>
                <a:ea typeface="Nimbus Sans"/>
                <a:cs typeface="Nimbus Sans"/>
              </a:defRPr>
            </a:pPr>
            <a:r>
              <a:rPr sz="2625" b="1">
                <a:solidFill>
                  <a:srgbClr val="E4BC79"/>
                </a:solidFill>
                <a:latin typeface="Nimbus Sans"/>
                <a:ea typeface="Nimbus Sans"/>
                <a:cs typeface="Nimbus Sans"/>
              </a:rPr>
              <a:t>540 / 757</a:t>
            </a:r>
          </a:p>
        </p:txBody>
      </p:sp>
      <p:sp>
        <p:nvSpPr>
          <p:cNvPr id="6" name="credit reporting&#10;test complaints">
            <a:extLst xmlns:a="http://schemas.openxmlformats.org/drawingml/2006/main">
              <a:ext uri="{FF2B5EF4-FFF2-40B4-BE49-F238E27FC236}">
                <a16:creationId xmlns:a16="http://schemas.microsoft.com/office/drawing/2014/main" id="{BA0BE044-9C90-48BF-A7C1-DA58F8DE887F}"/>
              </a:ext>
            </a:extLst>
          </p:cNvPr>
          <p:cNvSpPr>
            <a:spLocks xmlns:a="http://schemas.openxmlformats.org/drawingml/2006/main" noGrp="1"/>
          </p:cNvSpPr>
          <p:nvPr/>
        </p:nvSpPr>
        <p:spPr>
          <a:xfrm xmlns:a="http://schemas.openxmlformats.org/drawingml/2006/main">
            <a:off x="9601200" y="2990850"/>
            <a:ext cx="2019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EC0CD"/>
                </a:solidFill>
                <a:latin typeface="Nimbus Sans"/>
                <a:ea typeface="Nimbus Sans"/>
                <a:cs typeface="Nimbus Sans"/>
              </a:defRPr>
            </a:defPPr>
          </a:lstStyle>
          <a:p xmlns:a="http://schemas.openxmlformats.org/drawingml/2006/main">
            <a:pPr algn="l">
              <a:lnSpc>
                <a:spcPct val="112000"/>
              </a:lnSpc>
              <a:buNone/>
              <a:defRPr sz="1800" b="0">
                <a:solidFill>
                  <a:srgbClr val="AEC0CD"/>
                </a:solidFill>
                <a:latin typeface="Nimbus Sans"/>
                <a:ea typeface="Nimbus Sans"/>
                <a:cs typeface="Nimbus Sans"/>
              </a:defRPr>
            </a:pPr>
            <a:r>
              <a:rPr sz="1800" b="0">
                <a:solidFill>
                  <a:srgbClr val="AEC0CD"/>
                </a:solidFill>
                <a:latin typeface="Nimbus Sans"/>
                <a:ea typeface="Nimbus Sans"/>
                <a:cs typeface="Nimbus Sans"/>
              </a:rPr>
              <a:t>credit reporting</a:t>
            </a:r>
          </a:p>
          <a:p xmlns:a="http://schemas.openxmlformats.org/drawingml/2006/main">
            <a:pPr algn="l">
              <a:lnSpc>
                <a:spcPct val="112000"/>
              </a:lnSpc>
              <a:buNone/>
              <a:defRPr sz="1800" b="0">
                <a:solidFill>
                  <a:srgbClr val="AEC0CD"/>
                </a:solidFill>
                <a:latin typeface="Nimbus Sans"/>
                <a:ea typeface="Nimbus Sans"/>
                <a:cs typeface="Nimbus Sans"/>
              </a:defRPr>
            </a:pPr>
            <a:r>
              <a:rPr sz="1800" b="0">
                <a:solidFill>
                  <a:srgbClr val="AEC0CD"/>
                </a:solidFill>
                <a:latin typeface="Nimbus Sans"/>
                <a:ea typeface="Nimbus Sans"/>
                <a:cs typeface="Nimbus Sans"/>
              </a:rPr>
              <a:t>test complaints</a:t>
            </a:r>
          </a:p>
        </p:txBody>
      </p:sp>
      <p:sp>
        <p:nvSpPr>
          <p:cNvPr id="7" name="0 / 6">
            <a:extLst xmlns:a="http://schemas.openxmlformats.org/drawingml/2006/main">
              <a:ext uri="{FF2B5EF4-FFF2-40B4-BE49-F238E27FC236}">
                <a16:creationId xmlns:a16="http://schemas.microsoft.com/office/drawing/2014/main" id="{D7732684-0D32-44BB-B678-6CB720318931}"/>
              </a:ext>
            </a:extLst>
          </p:cNvPr>
          <p:cNvSpPr>
            <a:spLocks xmlns:a="http://schemas.openxmlformats.org/drawingml/2006/main" noGrp="1"/>
          </p:cNvSpPr>
          <p:nvPr/>
        </p:nvSpPr>
        <p:spPr>
          <a:xfrm xmlns:a="http://schemas.openxmlformats.org/drawingml/2006/main">
            <a:off x="9601200" y="4057650"/>
            <a:ext cx="2019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FA8498"/>
                </a:solidFill>
                <a:latin typeface="Nimbus Sans"/>
                <a:ea typeface="Nimbus Sans"/>
                <a:cs typeface="Nimbus Sans"/>
              </a:defRPr>
            </a:defPPr>
          </a:lstStyle>
          <a:p xmlns:a="http://schemas.openxmlformats.org/drawingml/2006/main">
            <a:pPr algn="l">
              <a:lnSpc>
                <a:spcPct val="112000"/>
              </a:lnSpc>
              <a:buNone/>
              <a:defRPr sz="3750" b="1">
                <a:solidFill>
                  <a:srgbClr val="FA8498"/>
                </a:solidFill>
                <a:latin typeface="Nimbus Sans"/>
                <a:ea typeface="Nimbus Sans"/>
                <a:cs typeface="Nimbus Sans"/>
              </a:defRPr>
            </a:pPr>
            <a:r>
              <a:rPr sz="3750" b="1">
                <a:solidFill>
                  <a:srgbClr val="FA8498"/>
                </a:solidFill>
                <a:latin typeface="Nimbus Sans"/>
                <a:ea typeface="Nimbus Sans"/>
                <a:cs typeface="Nimbus Sans"/>
              </a:rPr>
              <a:t>0 / 6</a:t>
            </a:r>
          </a:p>
        </p:txBody>
      </p:sp>
      <p:sp>
        <p:nvSpPr>
          <p:cNvPr id="8" name="payday/title/personal&#10;loans classified correc">
            <a:extLst xmlns:a="http://schemas.openxmlformats.org/drawingml/2006/main">
              <a:ext uri="{FF2B5EF4-FFF2-40B4-BE49-F238E27FC236}">
                <a16:creationId xmlns:a16="http://schemas.microsoft.com/office/drawing/2014/main" id="{9A513345-EE67-4A80-A6EF-F209C397CAD7}"/>
              </a:ext>
            </a:extLst>
          </p:cNvPr>
          <p:cNvSpPr>
            <a:spLocks xmlns:a="http://schemas.openxmlformats.org/drawingml/2006/main" noGrp="1"/>
          </p:cNvSpPr>
          <p:nvPr/>
        </p:nvSpPr>
        <p:spPr>
          <a:xfrm xmlns:a="http://schemas.openxmlformats.org/drawingml/2006/main">
            <a:off x="9601200" y="4895850"/>
            <a:ext cx="2019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EC0CD"/>
                </a:solidFill>
                <a:latin typeface="Nimbus Sans"/>
                <a:ea typeface="Nimbus Sans"/>
                <a:cs typeface="Nimbus Sans"/>
              </a:defRPr>
            </a:defPPr>
          </a:lstStyle>
          <a:p xmlns:a="http://schemas.openxmlformats.org/drawingml/2006/main">
            <a:pPr algn="l">
              <a:lnSpc>
                <a:spcPct val="112000"/>
              </a:lnSpc>
              <a:buNone/>
              <a:defRPr sz="1725" b="0">
                <a:solidFill>
                  <a:srgbClr val="AEC0CD"/>
                </a:solidFill>
                <a:latin typeface="Nimbus Sans"/>
                <a:ea typeface="Nimbus Sans"/>
                <a:cs typeface="Nimbus Sans"/>
              </a:defRPr>
            </a:pPr>
            <a:r>
              <a:rPr sz="1725" b="0">
                <a:solidFill>
                  <a:srgbClr val="AEC0CD"/>
                </a:solidFill>
                <a:latin typeface="Nimbus Sans"/>
                <a:ea typeface="Nimbus Sans"/>
                <a:cs typeface="Nimbus Sans"/>
              </a:rPr>
              <a:t>payday/title/personal</a:t>
            </a:r>
          </a:p>
          <a:p xmlns:a="http://schemas.openxmlformats.org/drawingml/2006/main">
            <a:pPr algn="l">
              <a:lnSpc>
                <a:spcPct val="112000"/>
              </a:lnSpc>
              <a:buNone/>
              <a:defRPr sz="1725" b="0">
                <a:solidFill>
                  <a:srgbClr val="AEC0CD"/>
                </a:solidFill>
                <a:latin typeface="Nimbus Sans"/>
                <a:ea typeface="Nimbus Sans"/>
                <a:cs typeface="Nimbus Sans"/>
              </a:defRPr>
            </a:pPr>
            <a:r>
              <a:rPr sz="1725" b="0">
                <a:solidFill>
                  <a:srgbClr val="AEC0CD"/>
                </a:solidFill>
                <a:latin typeface="Nimbus Sans"/>
                <a:ea typeface="Nimbus Sans"/>
                <a:cs typeface="Nimbus Sans"/>
              </a:rPr>
              <a:t>loans classified correctly</a:t>
            </a:r>
          </a:p>
        </p:txBody>
      </p:sp>
      <p:sp>
        <p:nvSpPr>
          <p:cNvPr id="9" name="The dominant class raises Weighted-F1. Macro-">
            <a:extLst xmlns:a="http://schemas.openxmlformats.org/drawingml/2006/main">
              <a:ext uri="{FF2B5EF4-FFF2-40B4-BE49-F238E27FC236}">
                <a16:creationId xmlns:a16="http://schemas.microsoft.com/office/drawing/2014/main" id="{14901FAE-B694-4242-A787-92B8B20363E8}"/>
              </a:ext>
            </a:extLst>
          </p:cNvPr>
          <p:cNvSpPr>
            <a:spLocks xmlns:a="http://schemas.openxmlformats.org/drawingml/2006/main" noGrp="1"/>
          </p:cNvSpPr>
          <p:nvPr/>
        </p:nvSpPr>
        <p:spPr>
          <a:xfrm xmlns:a="http://schemas.openxmlformats.org/drawingml/2006/main">
            <a:off x="609600" y="6096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2F6F8"/>
                </a:solidFill>
                <a:latin typeface="Nimbus Sans"/>
                <a:ea typeface="Nimbus Sans"/>
                <a:cs typeface="Nimbus Sans"/>
              </a:defRPr>
            </a:defPPr>
          </a:lstStyle>
          <a:p xmlns:a="http://schemas.openxmlformats.org/drawingml/2006/main">
            <a:pPr algn="l">
              <a:lnSpc>
                <a:spcPct val="112000"/>
              </a:lnSpc>
              <a:buNone/>
              <a:defRPr sz="1875" b="0">
                <a:solidFill>
                  <a:srgbClr val="F2F6F8"/>
                </a:solidFill>
                <a:latin typeface="Nimbus Sans"/>
                <a:ea typeface="Nimbus Sans"/>
                <a:cs typeface="Nimbus Sans"/>
              </a:defRPr>
            </a:pPr>
            <a:r>
              <a:rPr sz="1875" b="0">
                <a:solidFill>
                  <a:srgbClr val="F2F6F8"/>
                </a:solidFill>
                <a:latin typeface="Nimbus Sans"/>
                <a:ea typeface="Nimbus Sans"/>
                <a:cs typeface="Nimbus Sans"/>
              </a:rPr>
              <a:t>The dominant class raises Weighted-F1. Macro-F1 exposes weaker products.</a:t>
            </a:r>
          </a:p>
        </p:txBody>
      </p:sp>
    </p:spTree>
    <p:extLst>
      <p:ext uri="{BB962C8B-B14F-4D97-AF65-F5344CB8AC3E}">
        <p14:creationId xmlns:p14="http://schemas.microsoft.com/office/powerpoint/2010/main" val="1335581560"/>
      </p:ext>
    </p:extLst>
  </p:cSld>
</p:sld>
</file>

<file path=ppt/slides/slide8.xml><?xml version="1.0" encoding="utf-8"?>
<p:sld xmlns:p="http://schemas.openxmlformats.org/presentationml/2006/main">
  <p:cSld>
    <p:bg>
      <p:bgPr>
        <a:solidFill xmlns:a="http://schemas.openxmlformats.org/drawingml/2006/main">
          <a:srgbClr val="08162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442E6F6-F5D4-4603-BE0F-C48342FBA1D2}"/>
              </a:ext>
            </a:extLst>
          </p:cNvPr>
          <p:cNvSpPr>
            <a:spLocks xmlns:a="http://schemas.openxmlformats.org/drawingml/2006/main" noGrp="1"/>
          </p:cNvSpPr>
          <p:nvPr/>
        </p:nvSpPr>
        <p:spPr>
          <a:xfrm xmlns:a="http://schemas.openxmlformats.org/drawingml/2006/main">
            <a:off x="609600" y="5524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2F6F8"/>
                </a:solidFill>
                <a:latin typeface="Nimbus Sans"/>
                <a:ea typeface="Nimbus Sans"/>
                <a:cs typeface="Nimbus Sans"/>
              </a:defRPr>
            </a:defPPr>
          </a:lstStyle>
          <a:p xmlns:a="http://schemas.openxmlformats.org/drawingml/2006/main">
            <a:pPr algn="l">
              <a:lnSpc>
                <a:spcPct val="112000"/>
              </a:lnSpc>
              <a:buNone/>
              <a:defRPr sz="3150" b="1">
                <a:solidFill>
                  <a:srgbClr val="F2F6F8"/>
                </a:solidFill>
                <a:latin typeface="Nimbus Sans"/>
                <a:ea typeface="Nimbus Sans"/>
                <a:cs typeface="Nimbus Sans"/>
              </a:defRPr>
            </a:pPr>
            <a:r>
              <a:rPr sz="3150" b="1">
                <a:solidFill>
                  <a:srgbClr val="F2F6F8"/>
                </a:solidFill>
                <a:latin typeface="Nimbus Sans"/>
                <a:ea typeface="Nimbus Sans"/>
                <a:cs typeface="Nimbus Sans"/>
              </a:rPr>
              <a:t>Performance audit by length and style</a:t>
            </a:r>
          </a:p>
        </p:txBody>
      </p:sp>
      <p:sp>
        <p:nvSpPr>
          <p:cNvPr id="2" name="slide-number">
            <a:extLst xmlns:a="http://schemas.openxmlformats.org/drawingml/2006/main">
              <a:ext uri="{FF2B5EF4-FFF2-40B4-BE49-F238E27FC236}">
                <a16:creationId xmlns:a16="http://schemas.microsoft.com/office/drawing/2014/main" id="{11BC582A-F9B9-45E2-93B1-70711EBAA72E}"/>
              </a:ext>
            </a:extLst>
          </p:cNvPr>
          <p:cNvSpPr>
            <a:spLocks xmlns:a="http://schemas.openxmlformats.org/drawingml/2006/main" noGrp="1"/>
          </p:cNvSpPr>
          <p:nvPr/>
        </p:nvSpPr>
        <p:spPr>
          <a:xfrm xmlns:a="http://schemas.openxmlformats.org/drawingml/2006/main">
            <a:off x="10668000" y="64008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D"/>
                </a:solidFill>
                <a:latin typeface="Nimbus Sans"/>
                <a:ea typeface="Nimbus Sans"/>
                <a:cs typeface="Nimbus Sans"/>
              </a:defRPr>
            </a:defPPr>
          </a:lstStyle>
          <a:p xmlns:a="http://schemas.openxmlformats.org/drawingml/2006/main">
            <a:pPr algn="r">
              <a:lnSpc>
                <a:spcPct val="112000"/>
              </a:lnSpc>
              <a:buNone/>
              <a:defRPr sz="1350" b="0">
                <a:solidFill>
                  <a:srgbClr val="AEC0CD"/>
                </a:solidFill>
                <a:latin typeface="Nimbus Sans"/>
                <a:ea typeface="Nimbus Sans"/>
                <a:cs typeface="Nimbus Sans"/>
              </a:defRPr>
            </a:pPr>
            <a:r>
              <a:rPr sz="1350" b="0">
                <a:solidFill>
                  <a:srgbClr val="AEC0CD"/>
                </a:solidFill>
                <a:latin typeface="Nimbus Sans"/>
                <a:ea typeface="Nimbus Sans"/>
                <a:cs typeface="Nimbus Sans"/>
              </a:rPr>
              <a:t>08 / 10</a:t>
            </a:r>
          </a:p>
        </p:txBody>
      </p:sp>
      <p:sp>
        <p:nvSpPr>
          <p:cNvPr id="3" name="Accuracy by raw narrative length">
            <a:extLst xmlns:a="http://schemas.openxmlformats.org/drawingml/2006/main">
              <a:ext uri="{FF2B5EF4-FFF2-40B4-BE49-F238E27FC236}">
                <a16:creationId xmlns:a16="http://schemas.microsoft.com/office/drawing/2014/main" id="{A39951F5-1818-437F-A1B9-DE8C3FA79BA9}"/>
              </a:ext>
            </a:extLst>
          </p:cNvPr>
          <p:cNvSpPr>
            <a:spLocks xmlns:a="http://schemas.openxmlformats.org/drawingml/2006/main" noGrp="1"/>
          </p:cNvSpPr>
          <p:nvPr/>
        </p:nvSpPr>
        <p:spPr>
          <a:xfrm xmlns:a="http://schemas.openxmlformats.org/drawingml/2006/main">
            <a:off x="609600" y="1362075"/>
            <a:ext cx="638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E4BC79"/>
                </a:solidFill>
                <a:latin typeface="Nimbus Sans"/>
                <a:ea typeface="Nimbus Sans"/>
                <a:cs typeface="Nimbus Sans"/>
              </a:defRPr>
            </a:defPPr>
          </a:lstStyle>
          <a:p xmlns:a="http://schemas.openxmlformats.org/drawingml/2006/main">
            <a:pPr algn="l">
              <a:lnSpc>
                <a:spcPct val="112000"/>
              </a:lnSpc>
              <a:buNone/>
              <a:defRPr sz="2175" b="1">
                <a:solidFill>
                  <a:srgbClr val="E4BC79"/>
                </a:solidFill>
                <a:latin typeface="Nimbus Sans"/>
                <a:ea typeface="Nimbus Sans"/>
                <a:cs typeface="Nimbus Sans"/>
              </a:defRPr>
            </a:pPr>
            <a:r>
              <a:rPr sz="2175" b="1">
                <a:solidFill>
                  <a:srgbClr val="E4BC79"/>
                </a:solidFill>
                <a:latin typeface="Nimbus Sans"/>
                <a:ea typeface="Nimbus Sans"/>
                <a:cs typeface="Nimbus Sans"/>
              </a:rPr>
              <a:t>Accuracy by raw narrative length</a:t>
            </a:r>
          </a:p>
        </p:txBody>
      </p:sp>
      <p:graphicFrame>
        <p:nvGraphicFramePr>
          <p:cNvPr id="4" name="Chart">
            <a:extLst xmlns:a="http://schemas.openxmlformats.org/drawingml/2006/main">
              <a:ext uri="{FF2B5EF4-FFF2-40B4-BE49-F238E27FC236}">
                <a16:creationId xmlns:a16="http://schemas.microsoft.com/office/drawing/2014/main" id="{DD6E078C-B33D-4303-81CA-3144D34E30E6}"/>
              </a:ext>
            </a:extLst>
          </p:cNvPr>
          <p:cNvGraphicFramePr/>
          <p:nvPr/>
        </p:nvGraphicFramePr>
        <p:xfrm>
          <a:off xmlns:a="http://schemas.openxmlformats.org/drawingml/2006/main" x="609600" y="2057400"/>
          <a:ext xmlns:a="http://schemas.openxmlformats.org/drawingml/2006/main" cx="6419850" cy="3409950"/>
        </p:xfrm>
        <a:graphic xmlns:a="http://schemas.openxmlformats.org/drawingml/2006/main">
          <a:graphicData uri="http://schemas.openxmlformats.org/drawingml/2006/chart">
            <c:chart xmlns:r="http://schemas.openxmlformats.org/officeDocument/2006/relationships" xmlns:c="http://schemas.openxmlformats.org/drawingml/2006/chart" r:id="R87aed402df6b4c48"/>
          </a:graphicData>
        </a:graphic>
      </p:graphicFrame>
      <p:sp>
        <p:nvSpPr>
          <p:cNvPr id="5" name="Style proxies">
            <a:extLst xmlns:a="http://schemas.openxmlformats.org/drawingml/2006/main">
              <a:ext uri="{FF2B5EF4-FFF2-40B4-BE49-F238E27FC236}">
                <a16:creationId xmlns:a16="http://schemas.microsoft.com/office/drawing/2014/main" id="{38E057EB-34DC-4964-9764-585A804CC52C}"/>
              </a:ext>
            </a:extLst>
          </p:cNvPr>
          <p:cNvSpPr>
            <a:spLocks xmlns:a="http://schemas.openxmlformats.org/drawingml/2006/main" noGrp="1"/>
          </p:cNvSpPr>
          <p:nvPr/>
        </p:nvSpPr>
        <p:spPr>
          <a:xfrm xmlns:a="http://schemas.openxmlformats.org/drawingml/2006/main">
            <a:off x="7753350" y="1362075"/>
            <a:ext cx="3829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E4BC79"/>
                </a:solidFill>
                <a:latin typeface="Nimbus Sans"/>
                <a:ea typeface="Nimbus Sans"/>
                <a:cs typeface="Nimbus Sans"/>
              </a:defRPr>
            </a:defPPr>
          </a:lstStyle>
          <a:p xmlns:a="http://schemas.openxmlformats.org/drawingml/2006/main">
            <a:pPr algn="l">
              <a:lnSpc>
                <a:spcPct val="112000"/>
              </a:lnSpc>
              <a:buNone/>
              <a:defRPr sz="2175" b="1">
                <a:solidFill>
                  <a:srgbClr val="E4BC79"/>
                </a:solidFill>
                <a:latin typeface="Nimbus Sans"/>
                <a:ea typeface="Nimbus Sans"/>
                <a:cs typeface="Nimbus Sans"/>
              </a:defRPr>
            </a:pPr>
            <a:r>
              <a:rPr sz="2175" b="1">
                <a:solidFill>
                  <a:srgbClr val="E4BC79"/>
                </a:solidFill>
                <a:latin typeface="Nimbus Sans"/>
                <a:ea typeface="Nimbus Sans"/>
                <a:cs typeface="Nimbus Sans"/>
              </a:rPr>
              <a:t>Style proxies</a:t>
            </a:r>
          </a:p>
        </p:txBody>
      </p:sp>
      <p:graphicFrame>
        <p:nvGraphicFramePr>
          <p:cNvPr id="6" name="">
            <a:extLst xmlns:a="http://schemas.openxmlformats.org/drawingml/2006/main">
              <a:ext uri="{FF2B5EF4-FFF2-40B4-BE49-F238E27FC236}">
                <a16:creationId xmlns:a16="http://schemas.microsoft.com/office/drawing/2014/main" id="{F5E6C837-CD19-4C07-BC9F-FCF8D3C6D961}"/>
              </a:ext>
            </a:extLst>
          </p:cNvPr>
          <p:cNvGraphicFramePr/>
          <p:nvPr/>
        </p:nvGraphicFramePr>
        <p:xfrm>
          <a:off xmlns:a="http://schemas.openxmlformats.org/drawingml/2006/main" x="7753350" y="2171700"/>
          <a:ext xmlns:a="http://schemas.openxmlformats.org/drawingml/2006/main" cx="3829050" cy="1619250"/>
        </p:xfrm>
        <a:graphic xmlns:a="http://schemas.openxmlformats.org/drawingml/2006/main">
          <a:graphicData uri="http://schemas.openxmlformats.org/drawingml/2006/table">
            <a:tbl>
              <a:tblPr/>
              <a:tblGrid>
                <a:gridCol w="1866900"/>
                <a:gridCol w="666750"/>
                <a:gridCol w="1295400"/>
              </a:tblGrid>
              <a:tr h="539750">
                <a:tc>
                  <a:txBody>
                    <a:bodyPr lIns="76200" tIns="76200" rIns="76200" bIns="76200"/>
                    <a:lstStyle/>
                    <a:p>
                      <a:pPr algn="l"/>
                      <a:r>
                        <a:rPr sz="1650" b="1">
                          <a:solidFill>
                            <a:srgbClr val="AEC0CD"/>
                          </a:solidFill>
                          <a:latin typeface="Nimbus Sans"/>
                          <a:ea typeface="Nimbus Sans"/>
                          <a:cs typeface="Nimbus Sans"/>
                        </a:rPr>
                        <a:t>Group</a:t>
                      </a:r>
                    </a:p>
                  </a:txBody>
                  <a:tcPr marL="91440" marR="91440" marT="45720" marB="45720" anchor="ctr">
                    <a:solidFill>
                      <a:srgbClr val="081620"/>
                    </a:solidFill>
                  </a:tcPr>
                </a:tc>
                <a:tc>
                  <a:txBody>
                    <a:bodyPr lIns="76200" tIns="76200" rIns="76200" bIns="76200"/>
                    <a:lstStyle/>
                    <a:p>
                      <a:pPr algn="ctr"/>
                      <a:r>
                        <a:rPr sz="1650" b="1">
                          <a:solidFill>
                            <a:srgbClr val="AEC0CD"/>
                          </a:solidFill>
                          <a:latin typeface="Nimbus Sans"/>
                          <a:ea typeface="Nimbus Sans"/>
                          <a:cs typeface="Nimbus Sans"/>
                        </a:rPr>
                        <a:t>n</a:t>
                      </a:r>
                    </a:p>
                  </a:txBody>
                  <a:tcPr marL="91440" marR="91440" marT="45720" marB="45720" anchor="ctr">
                    <a:solidFill>
                      <a:srgbClr val="081620"/>
                    </a:solidFill>
                  </a:tcPr>
                </a:tc>
                <a:tc>
                  <a:txBody>
                    <a:bodyPr lIns="76200" tIns="76200" rIns="76200" bIns="76200"/>
                    <a:lstStyle/>
                    <a:p>
                      <a:pPr algn="ctr"/>
                      <a:r>
                        <a:rPr sz="1650" b="1">
                          <a:solidFill>
                            <a:srgbClr val="AEC0CD"/>
                          </a:solidFill>
                          <a:latin typeface="Nimbus Sans"/>
                          <a:ea typeface="Nimbus Sans"/>
                          <a:cs typeface="Nimbus Sans"/>
                        </a:rPr>
                        <a:t>Accuracy</a:t>
                      </a:r>
                    </a:p>
                  </a:txBody>
                  <a:tcPr marL="91440" marR="91440" marT="45720" marB="45720" anchor="ctr">
                    <a:solidFill>
                      <a:srgbClr val="081620"/>
                    </a:solidFill>
                  </a:tcPr>
                </a:tc>
              </a:tr>
              <a:tr h="539750">
                <a:tc>
                  <a:txBody>
                    <a:bodyPr lIns="76200" tIns="76200" rIns="76200" bIns="76200"/>
                    <a:lstStyle/>
                    <a:p>
                      <a:pPr algn="l"/>
                      <a:r>
                        <a:rPr sz="1650" b="0">
                          <a:solidFill>
                            <a:srgbClr val="F2F6F8"/>
                          </a:solidFill>
                          <a:latin typeface="Nimbus Sans"/>
                          <a:ea typeface="Nimbus Sans"/>
                          <a:cs typeface="Nimbus Sans"/>
                        </a:rPr>
                        <a:t>Formal detailed</a:t>
                      </a:r>
                    </a:p>
                  </a:txBody>
                  <a:tcPr marL="91440" marR="91440" marT="45720" marB="45720" anchor="ctr">
                    <a:solidFill>
                      <a:srgbClr val="081620"/>
                    </a:solidFill>
                  </a:tcPr>
                </a:tc>
                <a:tc>
                  <a:txBody>
                    <a:bodyPr lIns="76200" tIns="76200" rIns="76200" bIns="76200"/>
                    <a:lstStyle/>
                    <a:p>
                      <a:pPr algn="ctr"/>
                      <a:r>
                        <a:rPr sz="1650" b="0">
                          <a:solidFill>
                            <a:srgbClr val="F2F6F8"/>
                          </a:solidFill>
                          <a:latin typeface="Nimbus Sans"/>
                          <a:ea typeface="Nimbus Sans"/>
                          <a:cs typeface="Nimbus Sans"/>
                        </a:rPr>
                        <a:t>113</a:t>
                      </a:r>
                    </a:p>
                  </a:txBody>
                  <a:tcPr marL="91440" marR="91440" marT="45720" marB="45720" anchor="ctr">
                    <a:solidFill>
                      <a:srgbClr val="081620"/>
                    </a:solidFill>
                  </a:tcPr>
                </a:tc>
                <a:tc>
                  <a:txBody>
                    <a:bodyPr lIns="76200" tIns="76200" rIns="76200" bIns="76200"/>
                    <a:lstStyle/>
                    <a:p>
                      <a:pPr algn="ctr"/>
                      <a:r>
                        <a:rPr sz="1650" b="0">
                          <a:solidFill>
                            <a:srgbClr val="F2F6F8"/>
                          </a:solidFill>
                          <a:latin typeface="Nimbus Sans"/>
                          <a:ea typeface="Nimbus Sans"/>
                          <a:cs typeface="Nimbus Sans"/>
                        </a:rPr>
                        <a:t>85.84%</a:t>
                      </a:r>
                    </a:p>
                  </a:txBody>
                  <a:tcPr marL="91440" marR="91440" marT="45720" marB="45720" anchor="ctr">
                    <a:solidFill>
                      <a:srgbClr val="081620"/>
                    </a:solidFill>
                  </a:tcPr>
                </a:tc>
              </a:tr>
              <a:tr h="539750">
                <a:tc>
                  <a:txBody>
                    <a:bodyPr lIns="76200" tIns="76200" rIns="76200" bIns="76200"/>
                    <a:lstStyle/>
                    <a:p>
                      <a:pPr algn="l"/>
                      <a:r>
                        <a:rPr sz="1650" b="0">
                          <a:solidFill>
                            <a:srgbClr val="F2F6F8"/>
                          </a:solidFill>
                          <a:latin typeface="Nimbus Sans"/>
                          <a:ea typeface="Nimbus Sans"/>
                          <a:cs typeface="Nimbus Sans"/>
                        </a:rPr>
                        <a:t>Informal short</a:t>
                      </a:r>
                    </a:p>
                  </a:txBody>
                  <a:tcPr marL="91440" marR="91440" marT="45720" marB="45720" anchor="ctr">
                    <a:solidFill>
                      <a:srgbClr val="081620"/>
                    </a:solidFill>
                  </a:tcPr>
                </a:tc>
                <a:tc>
                  <a:txBody>
                    <a:bodyPr lIns="76200" tIns="76200" rIns="76200" bIns="76200"/>
                    <a:lstStyle/>
                    <a:p>
                      <a:pPr algn="ctr"/>
                      <a:r>
                        <a:rPr sz="1650" b="0">
                          <a:solidFill>
                            <a:srgbClr val="F2F6F8"/>
                          </a:solidFill>
                          <a:latin typeface="Nimbus Sans"/>
                          <a:ea typeface="Nimbus Sans"/>
                          <a:cs typeface="Nimbus Sans"/>
                        </a:rPr>
                        <a:t>5</a:t>
                      </a:r>
                    </a:p>
                  </a:txBody>
                  <a:tcPr marL="91440" marR="91440" marT="45720" marB="45720" anchor="ctr">
                    <a:solidFill>
                      <a:srgbClr val="081620"/>
                    </a:solidFill>
                  </a:tcPr>
                </a:tc>
                <a:tc>
                  <a:txBody>
                    <a:bodyPr lIns="76200" tIns="76200" rIns="76200" bIns="76200"/>
                    <a:lstStyle/>
                    <a:p>
                      <a:pPr algn="ctr"/>
                      <a:r>
                        <a:rPr sz="1650" b="0">
                          <a:solidFill>
                            <a:srgbClr val="F2F6F8"/>
                          </a:solidFill>
                          <a:latin typeface="Nimbus Sans"/>
                          <a:ea typeface="Nimbus Sans"/>
                          <a:cs typeface="Nimbus Sans"/>
                        </a:rPr>
                        <a:t>80.00%</a:t>
                      </a:r>
                    </a:p>
                  </a:txBody>
                  <a:tcPr marL="91440" marR="91440" marT="45720" marB="45720" anchor="ctr">
                    <a:solidFill>
                      <a:srgbClr val="081620"/>
                    </a:solidFill>
                  </a:tcPr>
                </a:tc>
              </a:tr>
            </a:tbl>
          </a:graphicData>
        </a:graphic>
      </p:graphicFrame>
      <p:sp>
        <p:nvSpPr>
          <p:cNvPr id="7" name="Inconclusive style comparison:&#10;only five info">
            <a:extLst xmlns:a="http://schemas.openxmlformats.org/drawingml/2006/main">
              <a:ext uri="{FF2B5EF4-FFF2-40B4-BE49-F238E27FC236}">
                <a16:creationId xmlns:a16="http://schemas.microsoft.com/office/drawing/2014/main" id="{1426DA9D-36F7-4A8F-AE28-102CA1DE7B83}"/>
              </a:ext>
            </a:extLst>
          </p:cNvPr>
          <p:cNvSpPr>
            <a:spLocks xmlns:a="http://schemas.openxmlformats.org/drawingml/2006/main" noGrp="1"/>
          </p:cNvSpPr>
          <p:nvPr/>
        </p:nvSpPr>
        <p:spPr>
          <a:xfrm xmlns:a="http://schemas.openxmlformats.org/drawingml/2006/main">
            <a:off x="7753350" y="4286250"/>
            <a:ext cx="3829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A8498"/>
                </a:solidFill>
                <a:latin typeface="Nimbus Sans"/>
                <a:ea typeface="Nimbus Sans"/>
                <a:cs typeface="Nimbus Sans"/>
              </a:defRPr>
            </a:defPPr>
          </a:lstStyle>
          <a:p xmlns:a="http://schemas.openxmlformats.org/drawingml/2006/main">
            <a:pPr algn="l">
              <a:lnSpc>
                <a:spcPct val="112000"/>
              </a:lnSpc>
              <a:buNone/>
              <a:defRPr sz="2025" b="1">
                <a:solidFill>
                  <a:srgbClr val="FA8498"/>
                </a:solidFill>
                <a:latin typeface="Nimbus Sans"/>
                <a:ea typeface="Nimbus Sans"/>
                <a:cs typeface="Nimbus Sans"/>
              </a:defRPr>
            </a:pPr>
            <a:r>
              <a:rPr sz="2025" b="1">
                <a:solidFill>
                  <a:srgbClr val="FA8498"/>
                </a:solidFill>
                <a:latin typeface="Nimbus Sans"/>
                <a:ea typeface="Nimbus Sans"/>
                <a:cs typeface="Nimbus Sans"/>
              </a:rPr>
              <a:t>Inconclusive style comparison:</a:t>
            </a:r>
          </a:p>
          <a:p xmlns:a="http://schemas.openxmlformats.org/drawingml/2006/main">
            <a:pPr algn="l">
              <a:lnSpc>
                <a:spcPct val="112000"/>
              </a:lnSpc>
              <a:buNone/>
              <a:defRPr sz="2025" b="1">
                <a:solidFill>
                  <a:srgbClr val="FA8498"/>
                </a:solidFill>
                <a:latin typeface="Nimbus Sans"/>
                <a:ea typeface="Nimbus Sans"/>
                <a:cs typeface="Nimbus Sans"/>
              </a:defRPr>
            </a:pPr>
            <a:r>
              <a:rPr sz="2025" b="1">
                <a:solidFill>
                  <a:srgbClr val="FA8498"/>
                </a:solidFill>
                <a:latin typeface="Nimbus Sans"/>
                <a:ea typeface="Nimbus Sans"/>
                <a:cs typeface="Nimbus Sans"/>
              </a:rPr>
              <a:t>only five informal examples</a:t>
            </a:r>
          </a:p>
        </p:txBody>
      </p:sp>
      <p:sp>
        <p:nvSpPr>
          <p:cNvPr id="8" name="Length and style are proxies. Category mix ca">
            <a:extLst xmlns:a="http://schemas.openxmlformats.org/drawingml/2006/main">
              <a:ext uri="{FF2B5EF4-FFF2-40B4-BE49-F238E27FC236}">
                <a16:creationId xmlns:a16="http://schemas.microsoft.com/office/drawing/2014/main" id="{C6C54141-1A87-4BA5-8CF6-109BC5CCE957}"/>
              </a:ext>
            </a:extLst>
          </p:cNvPr>
          <p:cNvSpPr>
            <a:spLocks xmlns:a="http://schemas.openxmlformats.org/drawingml/2006/main" noGrp="1"/>
          </p:cNvSpPr>
          <p:nvPr/>
        </p:nvSpPr>
        <p:spPr>
          <a:xfrm xmlns:a="http://schemas.openxmlformats.org/drawingml/2006/main">
            <a:off x="609600" y="5772150"/>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2F6F8"/>
                </a:solidFill>
                <a:latin typeface="Nimbus Sans"/>
                <a:ea typeface="Nimbus Sans"/>
                <a:cs typeface="Nimbus Sans"/>
              </a:defRPr>
            </a:defPPr>
          </a:lstStyle>
          <a:p xmlns:a="http://schemas.openxmlformats.org/drawingml/2006/main">
            <a:pPr algn="l">
              <a:lnSpc>
                <a:spcPct val="112000"/>
              </a:lnSpc>
              <a:buNone/>
              <a:defRPr sz="1875" b="0">
                <a:solidFill>
                  <a:srgbClr val="F2F6F8"/>
                </a:solidFill>
                <a:latin typeface="Nimbus Sans"/>
                <a:ea typeface="Nimbus Sans"/>
                <a:cs typeface="Nimbus Sans"/>
              </a:defRPr>
            </a:pPr>
            <a:r>
              <a:rPr sz="1875" b="0">
                <a:solidFill>
                  <a:srgbClr val="F2F6F8"/>
                </a:solidFill>
                <a:latin typeface="Nimbus Sans"/>
                <a:ea typeface="Nimbus Sans"/>
                <a:cs typeface="Nimbus Sans"/>
              </a:rPr>
              <a:t>Length and style are proxies. Category mix can affect the gap.</a:t>
            </a:r>
          </a:p>
          <a:p xmlns:a="http://schemas.openxmlformats.org/drawingml/2006/main">
            <a:pPr algn="l">
              <a:lnSpc>
                <a:spcPct val="112000"/>
              </a:lnSpc>
              <a:buNone/>
              <a:defRPr sz="1875" b="0">
                <a:solidFill>
                  <a:srgbClr val="F2F6F8"/>
                </a:solidFill>
                <a:latin typeface="Nimbus Sans"/>
                <a:ea typeface="Nimbus Sans"/>
                <a:cs typeface="Nimbus Sans"/>
              </a:defRPr>
            </a:pPr>
            <a:r>
              <a:rPr sz="1875" b="0">
                <a:solidFill>
                  <a:srgbClr val="F2F6F8"/>
                </a:solidFill>
                <a:latin typeface="Nimbus Sans"/>
                <a:ea typeface="Nimbus Sans"/>
                <a:cs typeface="Nimbus Sans"/>
              </a:rPr>
              <a:t>Demographic fairness remains unmeasured.</a:t>
            </a:r>
          </a:p>
        </p:txBody>
      </p:sp>
    </p:spTree>
    <p:extLst>
      <p:ext uri="{BB962C8B-B14F-4D97-AF65-F5344CB8AC3E}">
        <p14:creationId xmlns:p14="http://schemas.microsoft.com/office/powerpoint/2010/main" val="1745492792"/>
      </p:ext>
    </p:extLst>
  </p:cSld>
</p:sld>
</file>

<file path=ppt/slides/slide9.xml><?xml version="1.0" encoding="utf-8"?>
<p:sld xmlns:p="http://schemas.openxmlformats.org/presentationml/2006/main">
  <p:cSld>
    <p:bg>
      <p:bgPr>
        <a:solidFill xmlns:a="http://schemas.openxmlformats.org/drawingml/2006/main">
          <a:srgbClr val="081620"/>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1A7246E7-E57D-4A22-9A00-DB85575FBBB8}"/>
              </a:ext>
            </a:extLst>
          </p:cNvPr>
          <p:cNvSpPr>
            <a:spLocks xmlns:a="http://schemas.openxmlformats.org/drawingml/2006/main" noGrp="1"/>
          </p:cNvSpPr>
          <p:nvPr/>
        </p:nvSpPr>
        <p:spPr>
          <a:xfrm xmlns:a="http://schemas.openxmlformats.org/drawingml/2006/main">
            <a:off x="609600" y="5524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2F6F8"/>
                </a:solidFill>
                <a:latin typeface="Nimbus Sans"/>
                <a:ea typeface="Nimbus Sans"/>
                <a:cs typeface="Nimbus Sans"/>
              </a:defRPr>
            </a:defPPr>
          </a:lstStyle>
          <a:p xmlns:a="http://schemas.openxmlformats.org/drawingml/2006/main">
            <a:pPr algn="l">
              <a:lnSpc>
                <a:spcPct val="112000"/>
              </a:lnSpc>
              <a:buNone/>
              <a:defRPr sz="3150" b="1">
                <a:solidFill>
                  <a:srgbClr val="F2F6F8"/>
                </a:solidFill>
                <a:latin typeface="Nimbus Sans"/>
                <a:ea typeface="Nimbus Sans"/>
                <a:cs typeface="Nimbus Sans"/>
              </a:defRPr>
            </a:pPr>
            <a:r>
              <a:rPr sz="3150" b="1">
                <a:solidFill>
                  <a:srgbClr val="F2F6F8"/>
                </a:solidFill>
                <a:latin typeface="Nimbus Sans"/>
                <a:ea typeface="Nimbus Sans"/>
                <a:cs typeface="Nimbus Sans"/>
              </a:rPr>
              <a:t>Explainability and live demonstration</a:t>
            </a:r>
          </a:p>
        </p:txBody>
      </p:sp>
      <p:sp>
        <p:nvSpPr>
          <p:cNvPr id="2" name="slide-number">
            <a:extLst xmlns:a="http://schemas.openxmlformats.org/drawingml/2006/main">
              <a:ext uri="{FF2B5EF4-FFF2-40B4-BE49-F238E27FC236}">
                <a16:creationId xmlns:a16="http://schemas.microsoft.com/office/drawing/2014/main" id="{8C0DAB6D-F1E1-4F0E-9A1E-92D2148A6FDB}"/>
              </a:ext>
            </a:extLst>
          </p:cNvPr>
          <p:cNvSpPr>
            <a:spLocks xmlns:a="http://schemas.openxmlformats.org/drawingml/2006/main" noGrp="1"/>
          </p:cNvSpPr>
          <p:nvPr/>
        </p:nvSpPr>
        <p:spPr>
          <a:xfrm xmlns:a="http://schemas.openxmlformats.org/drawingml/2006/main">
            <a:off x="10668000" y="64008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D"/>
                </a:solidFill>
                <a:latin typeface="Nimbus Sans"/>
                <a:ea typeface="Nimbus Sans"/>
                <a:cs typeface="Nimbus Sans"/>
              </a:defRPr>
            </a:defPPr>
          </a:lstStyle>
          <a:p xmlns:a="http://schemas.openxmlformats.org/drawingml/2006/main">
            <a:pPr algn="r">
              <a:lnSpc>
                <a:spcPct val="112000"/>
              </a:lnSpc>
              <a:buNone/>
              <a:defRPr sz="1350" b="0">
                <a:solidFill>
                  <a:srgbClr val="AEC0CD"/>
                </a:solidFill>
                <a:latin typeface="Nimbus Sans"/>
                <a:ea typeface="Nimbus Sans"/>
                <a:cs typeface="Nimbus Sans"/>
              </a:defRPr>
            </a:pPr>
            <a:r>
              <a:rPr sz="1350" b="0">
                <a:solidFill>
                  <a:srgbClr val="AEC0CD"/>
                </a:solidFill>
                <a:latin typeface="Nimbus Sans"/>
                <a:ea typeface="Nimbus Sans"/>
                <a:cs typeface="Nimbus Sans"/>
              </a:rPr>
              <a:t>09 / 10</a:t>
            </a:r>
          </a:p>
        </p:txBody>
      </p:sp>
      <p:sp>
        <p:nvSpPr>
          <p:cNvPr id="3" name="“My mortgage servicer applied my payment inco">
            <a:extLst xmlns:a="http://schemas.openxmlformats.org/drawingml/2006/main">
              <a:ext uri="{FF2B5EF4-FFF2-40B4-BE49-F238E27FC236}">
                <a16:creationId xmlns:a16="http://schemas.microsoft.com/office/drawing/2014/main" id="{0C120E63-B77E-4169-9E77-AD5E2735531C}"/>
              </a:ext>
            </a:extLst>
          </p:cNvPr>
          <p:cNvSpPr>
            <a:spLocks xmlns:a="http://schemas.openxmlformats.org/drawingml/2006/main" noGrp="1"/>
          </p:cNvSpPr>
          <p:nvPr/>
        </p:nvSpPr>
        <p:spPr>
          <a:xfrm xmlns:a="http://schemas.openxmlformats.org/drawingml/2006/main">
            <a:off x="609600" y="1400175"/>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2F6F8"/>
                </a:solidFill>
                <a:latin typeface="Nimbus Sans"/>
                <a:ea typeface="Nimbus Sans"/>
                <a:cs typeface="Nimbus Sans"/>
              </a:defRPr>
            </a:defPPr>
          </a:lstStyle>
          <a:p xmlns:a="http://schemas.openxmlformats.org/drawingml/2006/main">
            <a:pPr algn="l">
              <a:lnSpc>
                <a:spcPct val="112000"/>
              </a:lnSpc>
              <a:buNone/>
              <a:defRPr sz="2325" b="0">
                <a:solidFill>
                  <a:srgbClr val="F2F6F8"/>
                </a:solidFill>
                <a:latin typeface="Nimbus Sans"/>
                <a:ea typeface="Nimbus Sans"/>
                <a:cs typeface="Nimbus Sans"/>
              </a:defRPr>
            </a:pPr>
            <a:r>
              <a:rPr sz="2325" b="0">
                <a:solidFill>
                  <a:srgbClr val="F2F6F8"/>
                </a:solidFill>
                <a:latin typeface="Nimbus Sans"/>
                <a:ea typeface="Nimbus Sans"/>
                <a:cs typeface="Nimbus Sans"/>
              </a:rPr>
              <a:t>“My mortgage servicer applied my payment incorrectly</a:t>
            </a:r>
          </a:p>
          <a:p xmlns:a="http://schemas.openxmlformats.org/drawingml/2006/main">
            <a:pPr algn="l">
              <a:lnSpc>
                <a:spcPct val="112000"/>
              </a:lnSpc>
              <a:buNone/>
              <a:defRPr sz="2325" b="0">
                <a:solidFill>
                  <a:srgbClr val="F2F6F8"/>
                </a:solidFill>
                <a:latin typeface="Nimbus Sans"/>
                <a:ea typeface="Nimbus Sans"/>
                <a:cs typeface="Nimbus Sans"/>
              </a:defRPr>
            </a:pPr>
            <a:r>
              <a:rPr sz="2325" b="0">
                <a:solidFill>
                  <a:srgbClr val="F2F6F8"/>
                </a:solidFill>
                <a:latin typeface="Nimbus Sans"/>
                <a:ea typeface="Nimbus Sans"/>
                <a:cs typeface="Nimbus Sans"/>
              </a:rPr>
              <a:t>and charged a late fee.”</a:t>
            </a:r>
          </a:p>
        </p:txBody>
      </p:sp>
      <p:sp>
        <p:nvSpPr>
          <p:cNvPr id="4" name="Recorded prediction: Mortgages">
            <a:extLst xmlns:a="http://schemas.openxmlformats.org/drawingml/2006/main">
              <a:ext uri="{FF2B5EF4-FFF2-40B4-BE49-F238E27FC236}">
                <a16:creationId xmlns:a16="http://schemas.microsoft.com/office/drawing/2014/main" id="{138254FD-D5D5-4697-A3C4-9662E459AC06}"/>
              </a:ext>
            </a:extLst>
          </p:cNvPr>
          <p:cNvSpPr>
            <a:spLocks xmlns:a="http://schemas.openxmlformats.org/drawingml/2006/main" noGrp="1"/>
          </p:cNvSpPr>
          <p:nvPr/>
        </p:nvSpPr>
        <p:spPr>
          <a:xfrm xmlns:a="http://schemas.openxmlformats.org/drawingml/2006/main">
            <a:off x="609600" y="25050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2CCB9"/>
                </a:solidFill>
                <a:latin typeface="Nimbus Sans"/>
                <a:ea typeface="Nimbus Sans"/>
                <a:cs typeface="Nimbus Sans"/>
              </a:defRPr>
            </a:defPPr>
          </a:lstStyle>
          <a:p xmlns:a="http://schemas.openxmlformats.org/drawingml/2006/main">
            <a:pPr algn="l">
              <a:lnSpc>
                <a:spcPct val="112000"/>
              </a:lnSpc>
              <a:buNone/>
              <a:defRPr sz="2175" b="1">
                <a:solidFill>
                  <a:srgbClr val="42CCB9"/>
                </a:solidFill>
                <a:latin typeface="Nimbus Sans"/>
                <a:ea typeface="Nimbus Sans"/>
                <a:cs typeface="Nimbus Sans"/>
              </a:defRPr>
            </a:pPr>
            <a:r>
              <a:rPr sz="2175" b="1">
                <a:solidFill>
                  <a:srgbClr val="42CCB9"/>
                </a:solidFill>
                <a:latin typeface="Nimbus Sans"/>
                <a:ea typeface="Nimbus Sans"/>
                <a:cs typeface="Nimbus Sans"/>
              </a:rPr>
              <a:t>Recorded prediction: Mortgages</a:t>
            </a:r>
          </a:p>
        </p:txBody>
      </p:sp>
      <p:graphicFrame>
        <p:nvGraphicFramePr>
          <p:cNvPr id="5" name="Chart">
            <a:extLst xmlns:a="http://schemas.openxmlformats.org/drawingml/2006/main">
              <a:ext uri="{FF2B5EF4-FFF2-40B4-BE49-F238E27FC236}">
                <a16:creationId xmlns:a16="http://schemas.microsoft.com/office/drawing/2014/main" id="{2C1B75D4-E191-4DCC-BC69-77D14FCBA192}"/>
              </a:ext>
            </a:extLst>
          </p:cNvPr>
          <p:cNvGraphicFramePr/>
          <p:nvPr/>
        </p:nvGraphicFramePr>
        <p:xfrm>
          <a:off xmlns:a="http://schemas.openxmlformats.org/drawingml/2006/main" x="609600" y="3171825"/>
          <a:ext xmlns:a="http://schemas.openxmlformats.org/drawingml/2006/main" cx="6629400" cy="2124075"/>
        </p:xfrm>
        <a:graphic xmlns:a="http://schemas.openxmlformats.org/drawingml/2006/main">
          <a:graphicData uri="http://schemas.openxmlformats.org/drawingml/2006/chart">
            <c:chart xmlns:r="http://schemas.openxmlformats.org/officeDocument/2006/relationships" xmlns:c="http://schemas.openxmlformats.org/drawingml/2006/chart" r:id="R0205643c9afe484e"/>
          </a:graphicData>
        </a:graphic>
      </p:graphicFrame>
      <p:sp>
        <p:nvSpPr>
          <p:cNvPr id="6" name="0.627661">
            <a:extLst xmlns:a="http://schemas.openxmlformats.org/drawingml/2006/main">
              <a:ext uri="{FF2B5EF4-FFF2-40B4-BE49-F238E27FC236}">
                <a16:creationId xmlns:a16="http://schemas.microsoft.com/office/drawing/2014/main" id="{3D57946E-6DDB-4151-A660-BCC9AFE96B09}"/>
              </a:ext>
            </a:extLst>
          </p:cNvPr>
          <p:cNvSpPr>
            <a:spLocks xmlns:a="http://schemas.openxmlformats.org/drawingml/2006/main" noGrp="1"/>
          </p:cNvSpPr>
          <p:nvPr/>
        </p:nvSpPr>
        <p:spPr>
          <a:xfrm xmlns:a="http://schemas.openxmlformats.org/drawingml/2006/main">
            <a:off x="8096250" y="3162300"/>
            <a:ext cx="3486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E4BC79"/>
                </a:solidFill>
                <a:latin typeface="Nimbus Sans"/>
                <a:ea typeface="Nimbus Sans"/>
                <a:cs typeface="Nimbus Sans"/>
              </a:defRPr>
            </a:defPPr>
          </a:lstStyle>
          <a:p xmlns:a="http://schemas.openxmlformats.org/drawingml/2006/main">
            <a:pPr algn="l">
              <a:lnSpc>
                <a:spcPct val="112000"/>
              </a:lnSpc>
              <a:buNone/>
              <a:defRPr sz="4350" b="1">
                <a:solidFill>
                  <a:srgbClr val="E4BC79"/>
                </a:solidFill>
                <a:latin typeface="Nimbus Sans"/>
                <a:ea typeface="Nimbus Sans"/>
                <a:cs typeface="Nimbus Sans"/>
              </a:defRPr>
            </a:pPr>
            <a:r>
              <a:rPr sz="4350" b="1">
                <a:solidFill>
                  <a:srgbClr val="E4BC79"/>
                </a:solidFill>
                <a:latin typeface="Nimbus Sans"/>
                <a:ea typeface="Nimbus Sans"/>
                <a:cs typeface="Nimbus Sans"/>
              </a:rPr>
              <a:t>0.627661</a:t>
            </a:r>
          </a:p>
        </p:txBody>
      </p:sp>
      <p:sp>
        <p:nvSpPr>
          <p:cNvPr id="7" name="Raw SVM decision score">
            <a:extLst xmlns:a="http://schemas.openxmlformats.org/drawingml/2006/main">
              <a:ext uri="{FF2B5EF4-FFF2-40B4-BE49-F238E27FC236}">
                <a16:creationId xmlns:a16="http://schemas.microsoft.com/office/drawing/2014/main" id="{C6044283-BCAF-4757-B448-2ADE4CF04113}"/>
              </a:ext>
            </a:extLst>
          </p:cNvPr>
          <p:cNvSpPr>
            <a:spLocks xmlns:a="http://schemas.openxmlformats.org/drawingml/2006/main" noGrp="1"/>
          </p:cNvSpPr>
          <p:nvPr/>
        </p:nvSpPr>
        <p:spPr>
          <a:xfrm xmlns:a="http://schemas.openxmlformats.org/drawingml/2006/main">
            <a:off x="8096250" y="3943350"/>
            <a:ext cx="3486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EC0CD"/>
                </a:solidFill>
                <a:latin typeface="Nimbus Sans"/>
                <a:ea typeface="Nimbus Sans"/>
                <a:cs typeface="Nimbus Sans"/>
              </a:defRPr>
            </a:defPPr>
          </a:lstStyle>
          <a:p xmlns:a="http://schemas.openxmlformats.org/drawingml/2006/main">
            <a:pPr algn="l">
              <a:lnSpc>
                <a:spcPct val="112000"/>
              </a:lnSpc>
              <a:buNone/>
              <a:defRPr sz="1875" b="0">
                <a:solidFill>
                  <a:srgbClr val="AEC0CD"/>
                </a:solidFill>
                <a:latin typeface="Nimbus Sans"/>
                <a:ea typeface="Nimbus Sans"/>
                <a:cs typeface="Nimbus Sans"/>
              </a:defRPr>
            </a:pPr>
            <a:r>
              <a:rPr sz="1875" b="0">
                <a:solidFill>
                  <a:srgbClr val="AEC0CD"/>
                </a:solidFill>
                <a:latin typeface="Nimbus Sans"/>
                <a:ea typeface="Nimbus Sans"/>
                <a:cs typeface="Nimbus Sans"/>
              </a:rPr>
              <a:t>Raw SVM decision score</a:t>
            </a:r>
          </a:p>
        </p:txBody>
      </p:sp>
      <p:sp>
        <p:nvSpPr>
          <p:cNvPr id="8" name="Uncalibrated score&#10;Human review required">
            <a:extLst xmlns:a="http://schemas.openxmlformats.org/drawingml/2006/main">
              <a:ext uri="{FF2B5EF4-FFF2-40B4-BE49-F238E27FC236}">
                <a16:creationId xmlns:a16="http://schemas.microsoft.com/office/drawing/2014/main" id="{20B0B990-474F-455E-AECB-377DFCC5FD2E}"/>
              </a:ext>
            </a:extLst>
          </p:cNvPr>
          <p:cNvSpPr>
            <a:spLocks xmlns:a="http://schemas.openxmlformats.org/drawingml/2006/main" noGrp="1"/>
          </p:cNvSpPr>
          <p:nvPr/>
        </p:nvSpPr>
        <p:spPr>
          <a:xfrm xmlns:a="http://schemas.openxmlformats.org/drawingml/2006/main">
            <a:off x="8096250" y="4514850"/>
            <a:ext cx="3486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2F6F8"/>
                </a:solidFill>
                <a:latin typeface="Nimbus Sans"/>
                <a:ea typeface="Nimbus Sans"/>
                <a:cs typeface="Nimbus Sans"/>
              </a:defRPr>
            </a:defPPr>
          </a:lstStyle>
          <a:p xmlns:a="http://schemas.openxmlformats.org/drawingml/2006/main">
            <a:pPr algn="l">
              <a:lnSpc>
                <a:spcPct val="112000"/>
              </a:lnSpc>
              <a:buNone/>
              <a:defRPr sz="2025" b="0">
                <a:solidFill>
                  <a:srgbClr val="F2F6F8"/>
                </a:solidFill>
                <a:latin typeface="Nimbus Sans"/>
                <a:ea typeface="Nimbus Sans"/>
                <a:cs typeface="Nimbus Sans"/>
              </a:defRPr>
            </a:pPr>
            <a:r>
              <a:rPr sz="2025" b="0">
                <a:solidFill>
                  <a:srgbClr val="F2F6F8"/>
                </a:solidFill>
                <a:latin typeface="Nimbus Sans"/>
                <a:ea typeface="Nimbus Sans"/>
                <a:cs typeface="Nimbus Sans"/>
              </a:rPr>
              <a:t>Uncalibrated score</a:t>
            </a:r>
          </a:p>
          <a:p xmlns:a="http://schemas.openxmlformats.org/drawingml/2006/main">
            <a:pPr algn="l">
              <a:lnSpc>
                <a:spcPct val="112000"/>
              </a:lnSpc>
              <a:buNone/>
              <a:defRPr sz="2025" b="0">
                <a:solidFill>
                  <a:srgbClr val="F2F6F8"/>
                </a:solidFill>
                <a:latin typeface="Nimbus Sans"/>
                <a:ea typeface="Nimbus Sans"/>
                <a:cs typeface="Nimbus Sans"/>
              </a:defRPr>
            </a:pPr>
            <a:r>
              <a:rPr sz="2025" b="0">
                <a:solidFill>
                  <a:srgbClr val="F2F6F8"/>
                </a:solidFill>
                <a:latin typeface="Nimbus Sans"/>
                <a:ea typeface="Nimbus Sans"/>
                <a:cs typeface="Nimbus Sans"/>
              </a:rPr>
              <a:t>Human review required</a:t>
            </a:r>
          </a:p>
        </p:txBody>
      </p:sp>
      <p:sp>
        <p:nvSpPr>
          <p:cNvPr id="9" name="All contributions 1.637808 + intercept (-1.01">
            <a:extLst xmlns:a="http://schemas.openxmlformats.org/drawingml/2006/main">
              <a:ext uri="{FF2B5EF4-FFF2-40B4-BE49-F238E27FC236}">
                <a16:creationId xmlns:a16="http://schemas.microsoft.com/office/drawing/2014/main" id="{3B68A7A3-B71E-438A-9387-D1F17E191A6D}"/>
              </a:ext>
            </a:extLst>
          </p:cNvPr>
          <p:cNvSpPr>
            <a:spLocks xmlns:a="http://schemas.openxmlformats.org/drawingml/2006/main" noGrp="1"/>
          </p:cNvSpPr>
          <p:nvPr/>
        </p:nvSpPr>
        <p:spPr>
          <a:xfrm xmlns:a="http://schemas.openxmlformats.org/drawingml/2006/main">
            <a:off x="609600" y="55816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2F6F8"/>
                </a:solidFill>
                <a:latin typeface="Nimbus Sans"/>
                <a:ea typeface="Nimbus Sans"/>
                <a:cs typeface="Nimbus Sans"/>
              </a:defRPr>
            </a:defPPr>
          </a:lstStyle>
          <a:p xmlns:a="http://schemas.openxmlformats.org/drawingml/2006/main">
            <a:pPr algn="l">
              <a:lnSpc>
                <a:spcPct val="112000"/>
              </a:lnSpc>
              <a:buNone/>
              <a:defRPr sz="1875" b="0">
                <a:solidFill>
                  <a:srgbClr val="F2F6F8"/>
                </a:solidFill>
                <a:latin typeface="Nimbus Sans"/>
                <a:ea typeface="Nimbus Sans"/>
                <a:cs typeface="Nimbus Sans"/>
              </a:defRPr>
            </a:pPr>
            <a:r>
              <a:rPr sz="1875" b="0">
                <a:solidFill>
                  <a:srgbClr val="F2F6F8"/>
                </a:solidFill>
                <a:latin typeface="Nimbus Sans"/>
                <a:ea typeface="Nimbus Sans"/>
                <a:cs typeface="Nimbus Sans"/>
              </a:rPr>
              <a:t>All contributions 1.637808 + intercept (-1.010147) = 0.627661</a:t>
            </a:r>
          </a:p>
        </p:txBody>
      </p:sp>
      <p:sp>
        <p:nvSpPr>
          <p:cNvPr id="10" name="Demonstration input. Chart shows selected pos">
            <a:extLst xmlns:a="http://schemas.openxmlformats.org/drawingml/2006/main">
              <a:ext uri="{FF2B5EF4-FFF2-40B4-BE49-F238E27FC236}">
                <a16:creationId xmlns:a16="http://schemas.microsoft.com/office/drawing/2014/main" id="{6B617D05-7867-4F57-A0A2-36714BD8CF49}"/>
              </a:ext>
            </a:extLst>
          </p:cNvPr>
          <p:cNvSpPr>
            <a:spLocks xmlns:a="http://schemas.openxmlformats.org/drawingml/2006/main" noGrp="1"/>
          </p:cNvSpPr>
          <p:nvPr/>
        </p:nvSpPr>
        <p:spPr>
          <a:xfrm xmlns:a="http://schemas.openxmlformats.org/drawingml/2006/main">
            <a:off x="609600" y="6029325"/>
            <a:ext cx="885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AEC0CD"/>
                </a:solidFill>
                <a:latin typeface="Nimbus Sans"/>
                <a:ea typeface="Nimbus Sans"/>
                <a:cs typeface="Nimbus Sans"/>
              </a:defRPr>
            </a:defPPr>
          </a:lstStyle>
          <a:p xmlns:a="http://schemas.openxmlformats.org/drawingml/2006/main">
            <a:pPr algn="l">
              <a:lnSpc>
                <a:spcPct val="112000"/>
              </a:lnSpc>
              <a:buNone/>
              <a:defRPr sz="1575" b="0">
                <a:solidFill>
                  <a:srgbClr val="AEC0CD"/>
                </a:solidFill>
                <a:latin typeface="Nimbus Sans"/>
                <a:ea typeface="Nimbus Sans"/>
                <a:cs typeface="Nimbus Sans"/>
              </a:defRPr>
            </a:pPr>
            <a:r>
              <a:rPr sz="1575" b="0">
                <a:solidFill>
                  <a:srgbClr val="AEC0CD"/>
                </a:solidFill>
                <a:latin typeface="Nimbus Sans"/>
                <a:ea typeface="Nimbus Sans"/>
                <a:cs typeface="Nimbus Sans"/>
              </a:rPr>
              <a:t>Demonstration input. Chart shows selected positive terms.</a:t>
            </a:r>
          </a:p>
        </p:txBody>
      </p:sp>
      <p:sp>
        <p:nvSpPr>
          <p:cNvPr id="11" name="Open live demo">
            <a:extLst xmlns:a="http://schemas.openxmlformats.org/drawingml/2006/main">
              <a:ext uri="{FF2B5EF4-FFF2-40B4-BE49-F238E27FC236}">
                <a16:creationId xmlns:a16="http://schemas.microsoft.com/office/drawing/2014/main" id="{984FDFFF-26B8-49F9-9B53-BFEB5C62FCAC}"/>
              </a:ext>
            </a:extLst>
          </p:cNvPr>
          <p:cNvSpPr>
            <a:spLocks xmlns:a="http://schemas.openxmlformats.org/drawingml/2006/main" noGrp="1"/>
          </p:cNvSpPr>
          <p:nvPr/>
        </p:nvSpPr>
        <p:spPr>
          <a:xfrm xmlns:a="http://schemas.openxmlformats.org/drawingml/2006/main">
            <a:off x="609600" y="64008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2CCB9"/>
                </a:solidFill>
                <a:latin typeface="Nimbus Sans"/>
                <a:ea typeface="Nimbus Sans"/>
                <a:cs typeface="Nimbus Sans"/>
              </a:defRPr>
            </a:defPPr>
          </a:lstStyle>
          <a:p xmlns:a="http://schemas.openxmlformats.org/drawingml/2006/main">
            <a:pPr algn="l">
              <a:lnSpc>
                <a:spcPct val="112000"/>
              </a:lnSpc>
              <a:buNone/>
              <a:defRPr sz="1500" b="0">
                <a:solidFill>
                  <a:srgbClr val="42CCB9"/>
                </a:solidFill>
                <a:latin typeface="Nimbus Sans"/>
                <a:ea typeface="Nimbus Sans"/>
                <a:cs typeface="Nimbus Sans"/>
              </a:defRPr>
            </a:pPr>
            <a:r>
              <a:rPr sz="1500" b="0" u="sng">
                <a:solidFill>
                  <a:srgbClr val="42CCB9"/>
                </a:solidFill>
                <a:latin typeface="Nimbus Sans"/>
                <a:ea typeface="Nimbus Sans"/>
                <a:cs typeface="Nimbus Sans"/>
                <a:hlinkClick xmlns:r="http://schemas.openxmlformats.org/officeDocument/2006/relationships" r:id="Raf6ac881f4c54eab"/>
              </a:rPr>
              <a:t>Open live demo</a:t>
            </a:r>
          </a:p>
        </p:txBody>
      </p:sp>
    </p:spTree>
    <p:extLst>
      <p:ext uri="{BB962C8B-B14F-4D97-AF65-F5344CB8AC3E}">
        <p14:creationId xmlns:p14="http://schemas.microsoft.com/office/powerpoint/2010/main" val="324333929"/>
      </p:ext>
    </p:extLst>
  </p:cSld>
</p:sld>
</file>

<file path=ppt/slides/slide10.xml><?xml version="1.0" encoding="utf-8"?>
<p:sld xmlns:p="http://schemas.openxmlformats.org/presentationml/2006/main">
  <p:cSld>
    <p:bg>
      <p:bgPr>
        <a:solidFill xmlns:a="http://schemas.openxmlformats.org/drawingml/2006/main">
          <a:srgbClr val="08162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2162250-3C96-400D-B52D-F1554D39F20A}"/>
              </a:ext>
            </a:extLst>
          </p:cNvPr>
          <p:cNvPicPr>
            <a:picLocks xmlns:a="http://schemas.openxmlformats.org/drawingml/2006/main" noChangeAspect="1"/>
          </p:cNvPicPr>
          <p:nvPr/>
        </p:nvPicPr>
        <p:blipFill>
          <a:blip xmlns:r="http://schemas.openxmlformats.org/officeDocument/2006/relationships" xmlns:a="http://schemas.openxmlformats.org/drawingml/2006/main" r:embed="Ra6b0ef11c25541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1B12C3EC-1A0E-4392-B701-D18A9E542408}"/>
              </a:ext>
            </a:extLst>
          </p:cNvPr>
          <p:cNvSpPr>
            <a:spLocks xmlns:a="http://schemas.openxmlformats.org/drawingml/2006/main" noGrp="1"/>
          </p:cNvSpPr>
          <p:nvPr/>
        </p:nvSpPr>
        <p:spPr>
          <a:xfrm xmlns:a="http://schemas.openxmlformats.org/drawingml/2006/main">
            <a:off x="609600" y="5524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2F6F8"/>
                </a:solidFill>
                <a:latin typeface="Nimbus Sans"/>
                <a:ea typeface="Nimbus Sans"/>
                <a:cs typeface="Nimbus Sans"/>
              </a:defRPr>
            </a:defPPr>
          </a:lstStyle>
          <a:p xmlns:a="http://schemas.openxmlformats.org/drawingml/2006/main">
            <a:pPr algn="l">
              <a:lnSpc>
                <a:spcPct val="112000"/>
              </a:lnSpc>
              <a:buNone/>
              <a:defRPr sz="3150" b="1">
                <a:solidFill>
                  <a:srgbClr val="F2F6F8"/>
                </a:solidFill>
                <a:latin typeface="Nimbus Sans"/>
                <a:ea typeface="Nimbus Sans"/>
                <a:cs typeface="Nimbus Sans"/>
              </a:defRPr>
            </a:pPr>
            <a:r>
              <a:rPr sz="3150" b="1">
                <a:solidFill>
                  <a:srgbClr val="F2F6F8"/>
                </a:solidFill>
                <a:latin typeface="Nimbus Sans"/>
                <a:ea typeface="Nimbus Sans"/>
                <a:cs typeface="Nimbus Sans"/>
              </a:rPr>
              <a:t>Deliverables and responsible use</a:t>
            </a:r>
          </a:p>
        </p:txBody>
      </p:sp>
      <p:sp>
        <p:nvSpPr>
          <p:cNvPr id="3" name="Runnable Colab pipeline&#10;Performance audit&#10;Exp">
            <a:extLst xmlns:a="http://schemas.openxmlformats.org/drawingml/2006/main">
              <a:ext uri="{FF2B5EF4-FFF2-40B4-BE49-F238E27FC236}">
                <a16:creationId xmlns:a16="http://schemas.microsoft.com/office/drawing/2014/main" id="{D6EF0DE2-1EB5-4FA3-84C9-307AF8739125}"/>
              </a:ext>
            </a:extLst>
          </p:cNvPr>
          <p:cNvSpPr>
            <a:spLocks xmlns:a="http://schemas.openxmlformats.org/drawingml/2006/main" noGrp="1"/>
          </p:cNvSpPr>
          <p:nvPr/>
        </p:nvSpPr>
        <p:spPr>
          <a:xfrm xmlns:a="http://schemas.openxmlformats.org/drawingml/2006/main">
            <a:off x="609600" y="1695450"/>
            <a:ext cx="6286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2F6F8"/>
                </a:solidFill>
                <a:latin typeface="Nimbus Sans"/>
                <a:ea typeface="Nimbus Sans"/>
                <a:cs typeface="Nimbus Sans"/>
              </a:defRPr>
            </a:defPPr>
          </a:lstStyle>
          <a:p xmlns:a="http://schemas.openxmlformats.org/drawingml/2006/main">
            <a:pPr algn="l">
              <a:lnSpc>
                <a:spcPct val="112000"/>
              </a:lnSpc>
              <a:buNone/>
              <a:defRPr sz="2550" b="0">
                <a:solidFill>
                  <a:srgbClr val="F2F6F8"/>
                </a:solidFill>
                <a:latin typeface="Nimbus Sans"/>
                <a:ea typeface="Nimbus Sans"/>
                <a:cs typeface="Nimbus Sans"/>
              </a:defRPr>
            </a:pPr>
            <a:r>
              <a:rPr sz="2550" b="0">
                <a:solidFill>
                  <a:srgbClr val="F2F6F8"/>
                </a:solidFill>
                <a:latin typeface="Nimbus Sans"/>
                <a:ea typeface="Nimbus Sans"/>
                <a:cs typeface="Nimbus Sans"/>
              </a:rPr>
              <a:t>Runnable Colab pipeline</a:t>
            </a:r>
          </a:p>
          <a:p xmlns:a="http://schemas.openxmlformats.org/drawingml/2006/main">
            <a:pPr algn="l">
              <a:lnSpc>
                <a:spcPct val="112000"/>
              </a:lnSpc>
              <a:buNone/>
              <a:defRPr sz="2550" b="0">
                <a:solidFill>
                  <a:srgbClr val="F2F6F8"/>
                </a:solidFill>
                <a:latin typeface="Nimbus Sans"/>
                <a:ea typeface="Nimbus Sans"/>
                <a:cs typeface="Nimbus Sans"/>
              </a:defRPr>
            </a:pPr>
            <a:r>
              <a:rPr sz="2550" b="0">
                <a:solidFill>
                  <a:srgbClr val="F2F6F8"/>
                </a:solidFill>
                <a:latin typeface="Nimbus Sans"/>
                <a:ea typeface="Nimbus Sans"/>
                <a:cs typeface="Nimbus Sans"/>
              </a:rPr>
              <a:t>Performance audit</a:t>
            </a:r>
          </a:p>
          <a:p xmlns:a="http://schemas.openxmlformats.org/drawingml/2006/main">
            <a:pPr algn="l">
              <a:lnSpc>
                <a:spcPct val="112000"/>
              </a:lnSpc>
              <a:buNone/>
              <a:defRPr sz="2550" b="0">
                <a:solidFill>
                  <a:srgbClr val="F2F6F8"/>
                </a:solidFill>
                <a:latin typeface="Nimbus Sans"/>
                <a:ea typeface="Nimbus Sans"/>
                <a:cs typeface="Nimbus Sans"/>
              </a:defRPr>
            </a:pPr>
            <a:r>
              <a:rPr sz="2550" b="0">
                <a:solidFill>
                  <a:srgbClr val="F2F6F8"/>
                </a:solidFill>
                <a:latin typeface="Nimbus Sans"/>
                <a:ea typeface="Nimbus Sans"/>
                <a:cs typeface="Nimbus Sans"/>
              </a:rPr>
              <a:t>Explainability analysis</a:t>
            </a:r>
          </a:p>
          <a:p xmlns:a="http://schemas.openxmlformats.org/drawingml/2006/main">
            <a:pPr algn="l">
              <a:lnSpc>
                <a:spcPct val="112000"/>
              </a:lnSpc>
              <a:buNone/>
              <a:defRPr sz="2550" b="0">
                <a:solidFill>
                  <a:srgbClr val="F2F6F8"/>
                </a:solidFill>
                <a:latin typeface="Nimbus Sans"/>
                <a:ea typeface="Nimbus Sans"/>
                <a:cs typeface="Nimbus Sans"/>
              </a:defRPr>
            </a:pPr>
            <a:r>
              <a:rPr sz="2550" b="0">
                <a:solidFill>
                  <a:srgbClr val="F2F6F8"/>
                </a:solidFill>
                <a:latin typeface="Nimbus Sans"/>
                <a:ea typeface="Nimbus Sans"/>
                <a:cs typeface="Nimbus Sans"/>
              </a:rPr>
              <a:t>One-page model card</a:t>
            </a:r>
          </a:p>
        </p:txBody>
      </p:sp>
      <p:sp>
        <p:nvSpPr>
          <p:cNvPr id="4" name="Human review for every suggestion">
            <a:extLst xmlns:a="http://schemas.openxmlformats.org/drawingml/2006/main">
              <a:ext uri="{FF2B5EF4-FFF2-40B4-BE49-F238E27FC236}">
                <a16:creationId xmlns:a16="http://schemas.microsoft.com/office/drawing/2014/main" id="{AF850326-C982-40A4-8F5F-8E4420693299}"/>
              </a:ext>
            </a:extLst>
          </p:cNvPr>
          <p:cNvSpPr>
            <a:spLocks xmlns:a="http://schemas.openxmlformats.org/drawingml/2006/main" noGrp="1"/>
          </p:cNvSpPr>
          <p:nvPr/>
        </p:nvSpPr>
        <p:spPr>
          <a:xfrm xmlns:a="http://schemas.openxmlformats.org/drawingml/2006/main">
            <a:off x="609600" y="4095750"/>
            <a:ext cx="7191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42CCB9"/>
                </a:solidFill>
                <a:latin typeface="Nimbus Sans"/>
                <a:ea typeface="Nimbus Sans"/>
                <a:cs typeface="Nimbus Sans"/>
              </a:defRPr>
            </a:defPPr>
          </a:lstStyle>
          <a:p xmlns:a="http://schemas.openxmlformats.org/drawingml/2006/main">
            <a:pPr algn="l">
              <a:lnSpc>
                <a:spcPct val="112000"/>
              </a:lnSpc>
              <a:buNone/>
              <a:defRPr sz="2550" b="1">
                <a:solidFill>
                  <a:srgbClr val="42CCB9"/>
                </a:solidFill>
                <a:latin typeface="Nimbus Sans"/>
                <a:ea typeface="Nimbus Sans"/>
                <a:cs typeface="Nimbus Sans"/>
              </a:defRPr>
            </a:pPr>
            <a:r>
              <a:rPr sz="2550" b="1">
                <a:solidFill>
                  <a:srgbClr val="42CCB9"/>
                </a:solidFill>
                <a:latin typeface="Nimbus Sans"/>
                <a:ea typeface="Nimbus Sans"/>
                <a:cs typeface="Nimbus Sans"/>
              </a:rPr>
              <a:t>Human review for every suggestion</a:t>
            </a:r>
          </a:p>
        </p:txBody>
      </p:sp>
      <p:sp>
        <p:nvSpPr>
          <p:cNvPr id="5" name="Next priorities">
            <a:extLst xmlns:a="http://schemas.openxmlformats.org/drawingml/2006/main">
              <a:ext uri="{FF2B5EF4-FFF2-40B4-BE49-F238E27FC236}">
                <a16:creationId xmlns:a16="http://schemas.microsoft.com/office/drawing/2014/main" id="{4B6AFC84-4995-4809-80CC-021946A84A08}"/>
              </a:ext>
            </a:extLst>
          </p:cNvPr>
          <p:cNvSpPr>
            <a:spLocks xmlns:a="http://schemas.openxmlformats.org/drawingml/2006/main" noGrp="1"/>
          </p:cNvSpPr>
          <p:nvPr/>
        </p:nvSpPr>
        <p:spPr>
          <a:xfrm xmlns:a="http://schemas.openxmlformats.org/drawingml/2006/main">
            <a:off x="609600" y="48672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E4BC79"/>
                </a:solidFill>
                <a:latin typeface="Nimbus Sans"/>
                <a:ea typeface="Nimbus Sans"/>
                <a:cs typeface="Nimbus Sans"/>
              </a:defRPr>
            </a:defPPr>
          </a:lstStyle>
          <a:p xmlns:a="http://schemas.openxmlformats.org/drawingml/2006/main">
            <a:pPr algn="l">
              <a:lnSpc>
                <a:spcPct val="112000"/>
              </a:lnSpc>
              <a:buNone/>
              <a:defRPr sz="2025" b="1">
                <a:solidFill>
                  <a:srgbClr val="E4BC79"/>
                </a:solidFill>
                <a:latin typeface="Nimbus Sans"/>
                <a:ea typeface="Nimbus Sans"/>
                <a:cs typeface="Nimbus Sans"/>
              </a:defRPr>
            </a:pPr>
            <a:r>
              <a:rPr sz="2025" b="1">
                <a:solidFill>
                  <a:srgbClr val="E4BC79"/>
                </a:solidFill>
                <a:latin typeface="Nimbus Sans"/>
                <a:ea typeface="Nimbus Sans"/>
                <a:cs typeface="Nimbus Sans"/>
              </a:rPr>
              <a:t>Next priorities</a:t>
            </a:r>
          </a:p>
        </p:txBody>
      </p:sp>
      <p:sp>
        <p:nvSpPr>
          <p:cNvPr id="6" name="More unique examples for rare products&#10;Human ">
            <a:extLst xmlns:a="http://schemas.openxmlformats.org/drawingml/2006/main">
              <a:ext uri="{FF2B5EF4-FFF2-40B4-BE49-F238E27FC236}">
                <a16:creationId xmlns:a16="http://schemas.microsoft.com/office/drawing/2014/main" id="{A35BF218-668B-4CA0-960E-51920462CE52}"/>
              </a:ext>
            </a:extLst>
          </p:cNvPr>
          <p:cNvSpPr>
            <a:spLocks xmlns:a="http://schemas.openxmlformats.org/drawingml/2006/main" noGrp="1"/>
          </p:cNvSpPr>
          <p:nvPr/>
        </p:nvSpPr>
        <p:spPr>
          <a:xfrm xmlns:a="http://schemas.openxmlformats.org/drawingml/2006/main">
            <a:off x="609600" y="5391150"/>
            <a:ext cx="70866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2F6F8"/>
                </a:solidFill>
                <a:latin typeface="Nimbus Sans"/>
                <a:ea typeface="Nimbus Sans"/>
                <a:cs typeface="Nimbus Sans"/>
              </a:defRPr>
            </a:defPPr>
          </a:lstStyle>
          <a:p xmlns:a="http://schemas.openxmlformats.org/drawingml/2006/main">
            <a:pPr algn="l">
              <a:lnSpc>
                <a:spcPct val="112000"/>
              </a:lnSpc>
              <a:buNone/>
              <a:defRPr sz="1950" b="0">
                <a:solidFill>
                  <a:srgbClr val="F2F6F8"/>
                </a:solidFill>
                <a:latin typeface="Nimbus Sans"/>
                <a:ea typeface="Nimbus Sans"/>
                <a:cs typeface="Nimbus Sans"/>
              </a:defRPr>
            </a:pPr>
            <a:r>
              <a:rPr sz="1950" b="0">
                <a:solidFill>
                  <a:srgbClr val="F2F6F8"/>
                </a:solidFill>
                <a:latin typeface="Nimbus Sans"/>
                <a:ea typeface="Nimbus Sans"/>
                <a:cs typeface="Nimbus Sans"/>
              </a:rPr>
              <a:t>More unique examples for rare products</a:t>
            </a:r>
          </a:p>
          <a:p xmlns:a="http://schemas.openxmlformats.org/drawingml/2006/main">
            <a:pPr algn="l">
              <a:lnSpc>
                <a:spcPct val="112000"/>
              </a:lnSpc>
              <a:buNone/>
              <a:defRPr sz="1950" b="0">
                <a:solidFill>
                  <a:srgbClr val="F2F6F8"/>
                </a:solidFill>
                <a:latin typeface="Nimbus Sans"/>
                <a:ea typeface="Nimbus Sans"/>
                <a:cs typeface="Nimbus Sans"/>
              </a:defRPr>
            </a:pPr>
            <a:r>
              <a:rPr sz="1950" b="0">
                <a:solidFill>
                  <a:srgbClr val="F2F6F8"/>
                </a:solidFill>
                <a:latin typeface="Nimbus Sans"/>
                <a:ea typeface="Nimbus Sans"/>
                <a:cs typeface="Nimbus Sans"/>
              </a:rPr>
              <a:t>Human labels for writing style</a:t>
            </a:r>
          </a:p>
          <a:p xmlns:a="http://schemas.openxmlformats.org/drawingml/2006/main">
            <a:pPr algn="l">
              <a:lnSpc>
                <a:spcPct val="112000"/>
              </a:lnSpc>
              <a:buNone/>
              <a:defRPr sz="1950" b="0">
                <a:solidFill>
                  <a:srgbClr val="F2F6F8"/>
                </a:solidFill>
                <a:latin typeface="Nimbus Sans"/>
                <a:ea typeface="Nimbus Sans"/>
                <a:cs typeface="Nimbus Sans"/>
              </a:defRPr>
            </a:pPr>
            <a:r>
              <a:rPr sz="1950" b="0">
                <a:solidFill>
                  <a:srgbClr val="F2F6F8"/>
                </a:solidFill>
                <a:latin typeface="Nimbus Sans"/>
                <a:ea typeface="Nimbus Sans"/>
                <a:cs typeface="Nimbus Sans"/>
              </a:rPr>
              <a:t>Calibrated review thresholds</a:t>
            </a:r>
          </a:p>
        </p:txBody>
      </p:sp>
      <p:sp>
        <p:nvSpPr>
          <p:cNvPr id="7" name="10 / 10">
            <a:extLst xmlns:a="http://schemas.openxmlformats.org/drawingml/2006/main">
              <a:ext uri="{FF2B5EF4-FFF2-40B4-BE49-F238E27FC236}">
                <a16:creationId xmlns:a16="http://schemas.microsoft.com/office/drawing/2014/main" id="{534873AF-1285-4285-BDD1-29B5CD6679B3}"/>
              </a:ext>
            </a:extLst>
          </p:cNvPr>
          <p:cNvSpPr>
            <a:spLocks xmlns:a="http://schemas.openxmlformats.org/drawingml/2006/main" noGrp="1"/>
          </p:cNvSpPr>
          <p:nvPr/>
        </p:nvSpPr>
        <p:spPr>
          <a:xfrm xmlns:a="http://schemas.openxmlformats.org/drawingml/2006/main">
            <a:off x="10668000" y="64008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EC0CD"/>
                </a:solidFill>
                <a:latin typeface="Nimbus Sans"/>
                <a:ea typeface="Nimbus Sans"/>
                <a:cs typeface="Nimbus Sans"/>
              </a:defRPr>
            </a:defPPr>
          </a:lstStyle>
          <a:p xmlns:a="http://schemas.openxmlformats.org/drawingml/2006/main">
            <a:pPr algn="r">
              <a:lnSpc>
                <a:spcPct val="112000"/>
              </a:lnSpc>
              <a:buNone/>
              <a:defRPr sz="1350" b="0">
                <a:solidFill>
                  <a:srgbClr val="AEC0CD"/>
                </a:solidFill>
                <a:latin typeface="Nimbus Sans"/>
                <a:ea typeface="Nimbus Sans"/>
                <a:cs typeface="Nimbus Sans"/>
              </a:defRPr>
            </a:pPr>
            <a:r>
              <a:rPr sz="1350" b="0">
                <a:solidFill>
                  <a:srgbClr val="AEC0CD"/>
                </a:solidFill>
                <a:latin typeface="Nimbus Sans"/>
                <a:ea typeface="Nimbus Sans"/>
                <a:cs typeface="Nimbus Sans"/>
              </a:rPr>
              <a:t>10 / 10</a:t>
            </a:r>
          </a:p>
        </p:txBody>
      </p:sp>
    </p:spTree>
    <p:extLst>
      <p:ext uri="{BB962C8B-B14F-4D97-AF65-F5344CB8AC3E}">
        <p14:creationId xmlns:p14="http://schemas.microsoft.com/office/powerpoint/2010/main" val="361848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2026-10-09T21:11:06.2110000Z</dcterms:created>
  <dcterms:modified xsi:type="dcterms:W3CDTF">2026-10-09T21:11:06.2110000Z</dcterms:modified>
</coreProperties>
</file>